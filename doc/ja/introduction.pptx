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AI-generated cover illustration created for this presentation.</a:t>
            </a:r>
          </a:p>
          <a:p>
            <a:r>
              <a:t>- User-provided source deck: introduction.pptx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User-provided source deck: introduction.pptx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JPEG Committee — JPEG XL overview: https://jpeg.org/jpegxl/</a:t>
            </a:r>
          </a:p>
          <a:p>
            <a:r>
              <a:rPr dirty="0"/>
              <a:t>- WebKit — Safari 17 JPEG XL support: https://webkit.org/blog/14445/webkit-features-in-safari-17-0/</a:t>
            </a:r>
          </a:p>
          <a:p>
            <a:r>
              <a:rPr dirty="0"/>
              <a:t>- MDN — Image file type and format guide (browser status, accessed 2026-09-01): https://developer.mozilla.org/en-US/docs/Web/Media/Guides/Formats/Image_types</a:t>
            </a:r>
          </a:p>
          <a:p>
            <a:r>
              <a:rPr dirty="0"/>
              <a:t>- MDN — Firefox 153 developer notes (Nightly status): https://developer.mozilla.org/en-US/docs/Mozilla/Firefox/Releases/153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deck: introduction.pptx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jxl-rs</a:t>
            </a:r>
            <a:r>
              <a:rPr dirty="0"/>
              <a:t> official repository: https://github.com/libjxl/jxl-rs</a:t>
            </a:r>
          </a:p>
          <a:p>
            <a:r>
              <a:rPr dirty="0"/>
              <a:t>- Chicory — Ahead-of-Time translation and build-time code generation: https://chicory.dev/blog/chicory-1.0.0-M1/</a:t>
            </a:r>
          </a:p>
          <a:p>
            <a:r>
              <a:rPr dirty="0"/>
              <a:t>- User-provided source deck: introduction.pptx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deck: introduction.pptx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deck: introduction.pptx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deck: introduction.pptx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deck: introduction.pptx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Performance figures are reproduced from the user-provided source deck; hardware and benchmark corpus were not supplied.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deck: introduction.pptx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36252-4B62-4A42-9535-F2D151516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941E5-931B-47AA-B8E3-D8DD84EEC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DD004-122A-4D57-9432-CFFC566F847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8048A-3BAE-454D-8A82-CF929F8FD7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95CC9-CA43-45FE-9463-0790448F7A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2EA4E-131C-404F-81DF-A5236D186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0C9B3-C19C-459C-B15A-EFCAF9052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F817-792F-4D3D-AA8A-593B314C59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06163-0C92-4C5E-A8DD-40B91EFC86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9A7E7-1862-44CB-B441-7B5D3F2C3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81CC-7030-46E0-8AAF-A3B7AFC78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53C18-0196-41EF-9D99-5D3BFE924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8FE72-49A9-45B3-B835-41767531C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207ED-9CC6-4C3D-B1B6-149C2124A63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F2031-4B88-48EC-8C18-6C3BD16D2E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7621-3DE1-4D8C-B6B8-7B530DB52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6ADDC-FCFE-4773-85F6-D706B5509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10E54-97BB-4A88-A5E8-2B8F9C5DB78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2E9C8-7EC0-4002-9DA5-3F9FE361CA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E8F4A-3208-495B-B004-01C63B2633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F572C-6C2C-4D1D-B003-70DE560F76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EE950-53E2-4FA9-9E59-A323EF6B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87B0D-2CFA-4C4C-86A8-D3B6FCFBA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3CBB1-DF29-4786-9534-19CC8A61BE5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8C67-10C1-4E00-9FB6-64057962740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CE9EF-F9DE-4730-B40D-9AB348F0202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E31FB0-B42B-47F7-A5BA-1B6438C635F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444CE8-B0F3-45CC-BB25-EBB7BCE9237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31897B-4E3A-406F-98DD-CBFB54E9FB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7977-914D-4FEA-9E20-2B24A1D13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B5781-576F-4948-B3DC-812F2FE4D5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926FE5-65D1-4907-B421-4A2604D293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9FCDE-CACC-4B15-ADDC-316F418FEF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7E64F4-93D1-4189-9696-D00FADACAC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B21FC0-B9A0-4159-9FAC-7C920BBC4E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BF796-FC38-452C-955A-01130BD708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F131-1BE2-43BB-8E4A-A364F300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96244-0017-4B3D-9B94-CF170339B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5D4A1-1BFA-4028-804F-30A4521675A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5286F-29A3-4733-835D-11E313C80D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55E1B-3400-4D5B-966A-9EA8E88509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4BA41-DFA9-4214-9A34-63798B3B0B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ABE25-6C10-410C-987A-E85F7133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EBD6D-0227-4BD0-8A09-628510FC6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59572-ED99-4ECA-B7B2-791DF452091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3138C-72C5-41D6-9C4C-FCFD4190D2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DC3EE-AAD8-4D9C-91B5-3A9BA4E1B0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2999F-866E-4AC7-88C1-3657FDCEEB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83E1-F339-4F9B-BDE5-F7947FE08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4FADC-988C-4247-842F-4436031D3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6E764-159E-4148-A94F-211E081632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DA187-271E-45A5-B961-49E5C372F5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08D9B-BD33-4C98-8EC4-F223438A6E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F3A513-D21D-4B6D-ADEB-7C99186FC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10611-4C3C-4A77-8153-255B781D5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35E53-BEFA-40C8-89CA-0D41058490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68D77-BA2D-4345-BFAF-9FCF9BCF5D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64BF6-9B20-4C4E-8CFC-DEAB215542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7BAEED-B27C-4626-9FFC-D6D4510B2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57930-8303-4EE0-817A-394011942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20F0F-7E28-41E2-8EA5-B7E6EB23FC3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2026/9/1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3448D-5EA6-4105-BFAD-464C8544822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A582F-F039-4838-9E1E-942F86935B9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>
          <a:blip r:embed="rId3"/>
          <a:srcRect l="21078" r="21078"/>
          <a:stretch>
            <a:fillRect/>
          </a:stretch>
        </p:blipFill>
        <p:spPr>
          <a:xfrm>
            <a:off x="5143500" y="0"/>
            <a:ext cx="7048500" cy="685800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86C6040-B9B7-4E1B-A8A9-4CCFC29CB8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62625" cy="6858000"/>
          </a:xfrm>
          <a:prstGeom prst="rect">
            <a:avLst/>
          </a:prstGeom>
          <a:solidFill>
            <a:srgbClr val="063B3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1490D10-BBAE-458B-BBAA-F6342FBD402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742950" cy="76200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D86D509-1078-4164-8334-F32A7B013E58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4857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jxl-java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3DE720B-79A4-4FA7-84F0-A0DEDD19A9FF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47625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安全なJPEG XLデコードを</a:t>
            </a:r>
          </a:p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すべてのJavaアプリへ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581FD54-E9AE-4DD9-8B86-5975CA9ECAFE}"/>
              </a:ext>
            </a:extLst>
          </p:cNvPr>
          <p:cNvSpPr>
            <a:spLocks noGrp="1"/>
          </p:cNvSpPr>
          <p:nvPr/>
        </p:nvSpPr>
        <p:spPr>
          <a:xfrm>
            <a:off x="628650" y="4010025"/>
            <a:ext cx="438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BFE8DC"/>
                </a:solidFill>
              </a:defRPr>
            </a:pPr>
            <a:r>
              <a:rPr sz="1800" b="1">
                <a:solidFill>
                  <a:srgbClr val="BFE8DC"/>
                </a:solidFill>
              </a:rPr>
              <a:t>Rust × WebAssembly × Chicory AOT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23B528-FDC1-4FEB-A761-A2974F6CEFB8}"/>
              </a:ext>
            </a:extLst>
          </p:cNvPr>
          <p:cNvSpPr>
            <a:spLocks noGrp="1"/>
          </p:cNvSpPr>
          <p:nvPr/>
        </p:nvSpPr>
        <p:spPr>
          <a:xfrm>
            <a:off x="628650" y="454342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ネイティブ依存なし・JNIなし・ImageIO互換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7D4C289-B9F0-4CCC-9C12-76E2E2935D45}"/>
              </a:ext>
            </a:extLst>
          </p:cNvPr>
          <p:cNvSpPr>
            <a:spLocks noGrp="1"/>
          </p:cNvSpPr>
          <p:nvPr/>
        </p:nvSpPr>
        <p:spPr>
          <a:xfrm>
            <a:off x="628650" y="5362575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FFF1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2064090-47BB-4158-88B6-F98572183346}"/>
              </a:ext>
            </a:extLst>
          </p:cNvPr>
          <p:cNvSpPr>
            <a:spLocks noGrp="1"/>
          </p:cNvSpPr>
          <p:nvPr/>
        </p:nvSpPr>
        <p:spPr>
          <a:xfrm>
            <a:off x="723900" y="5372100"/>
            <a:ext cx="1619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63B33"/>
                </a:solidFill>
              </a:defRPr>
            </a:pPr>
            <a:r>
              <a:rPr sz="1275" b="1">
                <a:solidFill>
                  <a:srgbClr val="063B33"/>
                </a:solidFill>
              </a:rPr>
              <a:t>100% Pure Java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AF2EEB1-3077-4B41-A509-B8044DD94043}"/>
              </a:ext>
            </a:extLst>
          </p:cNvPr>
          <p:cNvSpPr>
            <a:spLocks noGrp="1"/>
          </p:cNvSpPr>
          <p:nvPr/>
        </p:nvSpPr>
        <p:spPr>
          <a:xfrm>
            <a:off x="2571750" y="5362575"/>
            <a:ext cx="1352550" cy="323850"/>
          </a:xfrm>
          <a:prstGeom prst="roundRect">
            <a:avLst>
              <a:gd name="adj" fmla="val 50000"/>
            </a:avLst>
          </a:prstGeom>
          <a:solidFill>
            <a:srgbClr val="CDED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0E3A18F-701B-43A8-B5DC-6F10D2494272}"/>
              </a:ext>
            </a:extLst>
          </p:cNvPr>
          <p:cNvSpPr>
            <a:spLocks noGrp="1"/>
          </p:cNvSpPr>
          <p:nvPr/>
        </p:nvSpPr>
        <p:spPr>
          <a:xfrm>
            <a:off x="2667000" y="5372100"/>
            <a:ext cx="1162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63B33"/>
                </a:solidFill>
              </a:defRPr>
            </a:pPr>
            <a:r>
              <a:rPr sz="1275" b="1">
                <a:solidFill>
                  <a:srgbClr val="063B33"/>
                </a:solidFill>
              </a:rPr>
              <a:t>JARひとつ</a:t>
            </a:r>
          </a:p>
        </p:txBody>
      </p:sp>
    </p:spTree>
    <p:extLst>
      <p:ext uri="{BB962C8B-B14F-4D97-AF65-F5344CB8AC3E}">
        <p14:creationId xmlns:p14="http://schemas.microsoft.com/office/powerpoint/2010/main" val="149172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661235A-A512-4183-AD29-E056DC701B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A7C6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EF7388C-7138-4925-9BAF-1F827C0359A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A7C62"/>
                </a:solidFill>
              </a:defRPr>
            </a:pPr>
            <a:r>
              <a:rPr sz="1200" b="1">
                <a:solidFill>
                  <a:srgbClr val="0A7C62"/>
                </a:solidFill>
              </a:rPr>
              <a:t>OVERVIEW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7208198-812E-4DFD-84BD-B9E78B62F4C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0251F"/>
                </a:solidFill>
              </a:defRPr>
            </a:pPr>
            <a:r>
              <a:rPr sz="3600" b="1">
                <a:solidFill>
                  <a:srgbClr val="10251F"/>
                </a:solidFill>
              </a:rPr>
              <a:t>JavaでJPEG XLを扱う“最後の壁”を取り除く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BF5E3B4-0C5B-42DC-9754-88E239BF7424}"/>
              </a:ext>
            </a:extLst>
          </p:cNvPr>
          <p:cNvSpPr>
            <a:spLocks noGrp="1"/>
          </p:cNvSpPr>
          <p:nvPr/>
        </p:nvSpPr>
        <p:spPr>
          <a:xfrm>
            <a:off x="628650" y="1228725"/>
            <a:ext cx="10668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56B64"/>
                </a:solidFill>
              </a:defRPr>
            </a:pPr>
            <a:r>
              <a:rPr sz="1650" b="0">
                <a:solidFill>
                  <a:srgbClr val="556B64"/>
                </a:solidFill>
              </a:rPr>
              <a:t>標準APIの使いやすさと、メモリ安全性・配布容易性を同時に実現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787A5B5-75B9-4F02-AACD-23E156EE15A4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556B64"/>
                </a:solidFill>
              </a:defRPr>
            </a:pPr>
            <a:r>
              <a:rPr sz="1200" b="1">
                <a:solidFill>
                  <a:srgbClr val="556B64"/>
                </a:solidFill>
              </a:rPr>
              <a:t>02</a:t>
            </a: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FFB0CC42-C406-4998-85E4-DF32DA666521}"/>
              </a:ext>
            </a:extLst>
          </p:cNvPr>
          <p:cNvSpPr>
            <a:spLocks noGrp="1"/>
          </p:cNvSpPr>
          <p:nvPr/>
        </p:nvSpPr>
        <p:spPr>
          <a:xfrm>
            <a:off x="3619500" y="2914650"/>
            <a:ext cx="590550" cy="400050"/>
          </a:xfrm>
          <a:prstGeom prst="rightArrow">
            <a:avLst/>
          </a:prstGeom>
          <a:solidFill>
            <a:srgbClr val="C7D7D1"/>
          </a:solidFill>
          <a:ln w="0">
            <a:solidFill>
              <a:srgbClr val="C7D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33BB8327-9BC0-48A5-8BE5-1C730A6257F8}"/>
              </a:ext>
            </a:extLst>
          </p:cNvPr>
          <p:cNvSpPr>
            <a:spLocks noGrp="1"/>
          </p:cNvSpPr>
          <p:nvPr/>
        </p:nvSpPr>
        <p:spPr>
          <a:xfrm>
            <a:off x="7962900" y="2914650"/>
            <a:ext cx="590550" cy="400050"/>
          </a:xfrm>
          <a:prstGeom prst="rightArrow">
            <a:avLst/>
          </a:prstGeom>
          <a:solidFill>
            <a:srgbClr val="C7D7D1"/>
          </a:solidFill>
          <a:ln w="0">
            <a:solidFill>
              <a:srgbClr val="C7D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C7C20B4-69B3-499A-AF8A-C4B0E5345BA0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2990850" cy="2524125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9525">
            <a:solidFill>
              <a:srgbClr val="C7D7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C4AC563-3402-42E4-B5C5-2CDB791F3C43}"/>
              </a:ext>
            </a:extLst>
          </p:cNvPr>
          <p:cNvSpPr>
            <a:spLocks noGrp="1"/>
          </p:cNvSpPr>
          <p:nvPr/>
        </p:nvSpPr>
        <p:spPr>
          <a:xfrm>
            <a:off x="876300" y="2238375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E1EE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4A857B8-03B6-497E-87EB-92FAD04B5105}"/>
              </a:ext>
            </a:extLst>
          </p:cNvPr>
          <p:cNvSpPr>
            <a:spLocks noGrp="1"/>
          </p:cNvSpPr>
          <p:nvPr/>
        </p:nvSpPr>
        <p:spPr>
          <a:xfrm>
            <a:off x="971550" y="2247900"/>
            <a:ext cx="933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F80ED"/>
                </a:solidFill>
              </a:defRPr>
            </a:pPr>
            <a:r>
              <a:rPr sz="1275" b="1">
                <a:solidFill>
                  <a:srgbClr val="2F80ED"/>
                </a:solidFill>
              </a:rPr>
              <a:t>01 変化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9C27752-B8D6-4D02-8704-4020A4C60EA5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24193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325" b="1">
                <a:solidFill>
                  <a:srgbClr val="10251F"/>
                </a:solidFill>
              </a:defRPr>
            </a:pPr>
            <a:r>
              <a:rPr sz="2325" b="1">
                <a:solidFill>
                  <a:srgbClr val="10251F"/>
                </a:solidFill>
              </a:rPr>
              <a:t>JPEG XLが</a:t>
            </a:r>
          </a:p>
          <a:p>
            <a:pPr algn="l">
              <a:defRPr sz="2325" b="1">
                <a:solidFill>
                  <a:srgbClr val="10251F"/>
                </a:solidFill>
              </a:defRPr>
            </a:pPr>
            <a:r>
              <a:rPr sz="2325" b="1">
                <a:solidFill>
                  <a:srgbClr val="10251F"/>
                </a:solidFill>
              </a:rPr>
              <a:t>実用フェーズへ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C366B96-6F17-4BFA-BC4F-E4CC383E5B39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56B64"/>
                </a:solidFill>
              </a:defRPr>
            </a:pPr>
            <a:r>
              <a:rPr sz="1500" b="0" dirty="0">
                <a:solidFill>
                  <a:srgbClr val="556B64"/>
                </a:solidFill>
              </a:rPr>
              <a:t>高画質・HDR・可逆再圧縮を1形式でカバー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3657AF1-1ABC-4EBC-8B64-0688DC04770A}"/>
              </a:ext>
            </a:extLst>
          </p:cNvPr>
          <p:cNvSpPr>
            <a:spLocks noGrp="1"/>
          </p:cNvSpPr>
          <p:nvPr/>
        </p:nvSpPr>
        <p:spPr>
          <a:xfrm>
            <a:off x="4210050" y="2000250"/>
            <a:ext cx="3752850" cy="2524125"/>
          </a:xfrm>
          <a:prstGeom prst="roundRect">
            <a:avLst>
              <a:gd name="adj" fmla="val 6792"/>
            </a:avLst>
          </a:prstGeom>
          <a:solidFill>
            <a:srgbClr val="FBE5DE"/>
          </a:solidFill>
          <a:ln w="9525">
            <a:solidFill>
              <a:srgbClr val="E76F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8F3F212-A2B6-4A40-BF0A-2050FD964DB6}"/>
              </a:ext>
            </a:extLst>
          </p:cNvPr>
          <p:cNvSpPr>
            <a:spLocks noGrp="1"/>
          </p:cNvSpPr>
          <p:nvPr/>
        </p:nvSpPr>
        <p:spPr>
          <a:xfrm>
            <a:off x="4476750" y="2238375"/>
            <a:ext cx="13525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536D849-0307-4D55-B426-72494691306F}"/>
              </a:ext>
            </a:extLst>
          </p:cNvPr>
          <p:cNvSpPr>
            <a:spLocks noGrp="1"/>
          </p:cNvSpPr>
          <p:nvPr/>
        </p:nvSpPr>
        <p:spPr>
          <a:xfrm>
            <a:off x="4572000" y="2247900"/>
            <a:ext cx="1162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E76F51"/>
                </a:solidFill>
              </a:defRPr>
            </a:pPr>
            <a:r>
              <a:rPr sz="1275" b="1">
                <a:solidFill>
                  <a:srgbClr val="E76F51"/>
                </a:solidFill>
              </a:rPr>
              <a:t>02 ギャップ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587C841-6D8C-4D47-9078-CC004407ED05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3219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325" b="1">
                <a:solidFill>
                  <a:srgbClr val="10251F"/>
                </a:solidFill>
              </a:defRPr>
            </a:pPr>
            <a:r>
              <a:rPr sz="2325" b="1">
                <a:solidFill>
                  <a:srgbClr val="10251F"/>
                </a:solidFill>
              </a:rPr>
              <a:t>Java標準は未対応</a:t>
            </a:r>
          </a:p>
          <a:p>
            <a:pPr algn="l">
              <a:defRPr sz="2325" b="1">
                <a:solidFill>
                  <a:srgbClr val="10251F"/>
                </a:solidFill>
              </a:defRPr>
            </a:pPr>
            <a:r>
              <a:rPr sz="2325" b="1">
                <a:solidFill>
                  <a:srgbClr val="10251F"/>
                </a:solidFill>
              </a:rPr>
              <a:t>JNIは運用負荷が重い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6F492EF-56F6-4680-B745-B0BE2A15B6B3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56B64"/>
                </a:solidFill>
              </a:defRPr>
            </a:pPr>
            <a:r>
              <a:rPr sz="1500" b="0">
                <a:solidFill>
                  <a:srgbClr val="556B64"/>
                </a:solidFill>
              </a:rPr>
              <a:t>OS別バイナリ・クラッシュ面・</a:t>
            </a:r>
          </a:p>
          <a:p>
            <a:pPr algn="l">
              <a:defRPr sz="1500" b="0">
                <a:solidFill>
                  <a:srgbClr val="556B64"/>
                </a:solidFill>
              </a:defRPr>
            </a:pPr>
            <a:r>
              <a:rPr sz="1500" b="0">
                <a:solidFill>
                  <a:srgbClr val="556B64"/>
                </a:solidFill>
              </a:rPr>
              <a:t>ネイティブ依存が残る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1FBBD13-771C-40E5-8E6E-BC9E2BC14CD6}"/>
              </a:ext>
            </a:extLst>
          </p:cNvPr>
          <p:cNvSpPr>
            <a:spLocks noGrp="1"/>
          </p:cNvSpPr>
          <p:nvPr/>
        </p:nvSpPr>
        <p:spPr>
          <a:xfrm>
            <a:off x="8553450" y="2000250"/>
            <a:ext cx="3009900" cy="2524125"/>
          </a:xfrm>
          <a:prstGeom prst="roundRect">
            <a:avLst>
              <a:gd name="adj" fmla="val 6792"/>
            </a:avLst>
          </a:prstGeom>
          <a:solidFill>
            <a:srgbClr val="E8F5F0"/>
          </a:solidFill>
          <a:ln w="9525">
            <a:solidFill>
              <a:srgbClr val="0A7C6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16DC4DDF-EC2F-4B99-994C-1C2C06D04AD2}"/>
              </a:ext>
            </a:extLst>
          </p:cNvPr>
          <p:cNvSpPr>
            <a:spLocks noGrp="1"/>
          </p:cNvSpPr>
          <p:nvPr/>
        </p:nvSpPr>
        <p:spPr>
          <a:xfrm>
            <a:off x="8820150" y="2238375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E92B01E-BAA3-4BF0-9938-6B1E69DC527A}"/>
              </a:ext>
            </a:extLst>
          </p:cNvPr>
          <p:cNvSpPr>
            <a:spLocks noGrp="1"/>
          </p:cNvSpPr>
          <p:nvPr/>
        </p:nvSpPr>
        <p:spPr>
          <a:xfrm>
            <a:off x="8915400" y="2247900"/>
            <a:ext cx="933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A7C62"/>
                </a:solidFill>
              </a:defRPr>
            </a:pPr>
            <a:r>
              <a:rPr sz="1275" b="1">
                <a:solidFill>
                  <a:srgbClr val="0A7C62"/>
                </a:solidFill>
              </a:rPr>
              <a:t>03 解決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1CA36F1-4BC4-45FE-A16B-643441A2AE3F}"/>
              </a:ext>
            </a:extLst>
          </p:cNvPr>
          <p:cNvSpPr>
            <a:spLocks noGrp="1"/>
          </p:cNvSpPr>
          <p:nvPr/>
        </p:nvSpPr>
        <p:spPr>
          <a:xfrm>
            <a:off x="8820150" y="2724150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325" b="1">
                <a:solidFill>
                  <a:srgbClr val="10251F"/>
                </a:solidFill>
              </a:defRPr>
            </a:pPr>
            <a:r>
              <a:rPr sz="2325" b="1">
                <a:solidFill>
                  <a:srgbClr val="10251F"/>
                </a:solidFill>
              </a:rPr>
              <a:t>RustをWasm化し</a:t>
            </a:r>
          </a:p>
          <a:p>
            <a:pPr algn="l">
              <a:defRPr sz="2325" b="1">
                <a:solidFill>
                  <a:srgbClr val="10251F"/>
                </a:solidFill>
              </a:defRPr>
            </a:pPr>
            <a:r>
              <a:rPr sz="2325" b="1">
                <a:solidFill>
                  <a:srgbClr val="10251F"/>
                </a:solidFill>
              </a:rPr>
              <a:t>Javaバイトコードへ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C66F643-7D25-4C62-9EF7-DD2498BA7AC9}"/>
              </a:ext>
            </a:extLst>
          </p:cNvPr>
          <p:cNvSpPr>
            <a:spLocks noGrp="1"/>
          </p:cNvSpPr>
          <p:nvPr/>
        </p:nvSpPr>
        <p:spPr>
          <a:xfrm>
            <a:off x="8820150" y="373380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56B64"/>
                </a:solidFill>
              </a:defRPr>
            </a:pPr>
            <a:r>
              <a:rPr sz="1500" b="0">
                <a:solidFill>
                  <a:srgbClr val="556B64"/>
                </a:solidFill>
              </a:rPr>
              <a:t>ImageIO.read()のまま</a:t>
            </a:r>
          </a:p>
          <a:p>
            <a:pPr algn="l">
              <a:defRPr sz="1500" b="0">
                <a:solidFill>
                  <a:srgbClr val="556B64"/>
                </a:solidFill>
              </a:defRPr>
            </a:pPr>
            <a:r>
              <a:rPr sz="1500" b="0">
                <a:solidFill>
                  <a:srgbClr val="556B64"/>
                </a:solidFill>
              </a:rPr>
              <a:t>安全にデコード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1DD9A58E-621F-47BB-8E99-5C265B5E7A82}"/>
              </a:ext>
            </a:extLst>
          </p:cNvPr>
          <p:cNvSpPr>
            <a:spLocks noGrp="1"/>
          </p:cNvSpPr>
          <p:nvPr/>
        </p:nvSpPr>
        <p:spPr>
          <a:xfrm>
            <a:off x="628650" y="4895850"/>
            <a:ext cx="10934700" cy="876300"/>
          </a:xfrm>
          <a:prstGeom prst="roundRect">
            <a:avLst>
              <a:gd name="adj" fmla="val 19565"/>
            </a:avLst>
          </a:prstGeom>
          <a:solidFill>
            <a:srgbClr val="063B3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6003660-248A-4EDF-9CD4-2E29E4BCE3AB}"/>
              </a:ext>
            </a:extLst>
          </p:cNvPr>
          <p:cNvSpPr>
            <a:spLocks noGrp="1"/>
          </p:cNvSpPr>
          <p:nvPr/>
        </p:nvSpPr>
        <p:spPr>
          <a:xfrm>
            <a:off x="876300" y="503872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2B84B"/>
                </a:solidFill>
              </a:defRPr>
            </a:pPr>
            <a:r>
              <a:rPr sz="1350" b="1">
                <a:solidFill>
                  <a:srgbClr val="F2B84B"/>
                </a:solidFill>
              </a:rPr>
              <a:t>本資料の結論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3C55B17-27BE-41AD-8CD8-1CBE15447A05}"/>
              </a:ext>
            </a:extLst>
          </p:cNvPr>
          <p:cNvSpPr>
            <a:spLocks noGrp="1"/>
          </p:cNvSpPr>
          <p:nvPr/>
        </p:nvSpPr>
        <p:spPr>
          <a:xfrm>
            <a:off x="876300" y="5286375"/>
            <a:ext cx="1028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ピーク速度より安全性と可搬性を重視する用途で、jxl-javaは有力な選択肢になる</a:t>
            </a:r>
          </a:p>
        </p:txBody>
      </p:sp>
    </p:spTree>
    <p:extLst>
      <p:ext uri="{BB962C8B-B14F-4D97-AF65-F5344CB8AC3E}">
        <p14:creationId xmlns:p14="http://schemas.microsoft.com/office/powerpoint/2010/main" val="1813964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059185A7-09B4-42AC-AB8A-38358A02D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A7C6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765A4AF-81B2-4868-8E1C-9E67647E106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A7C62"/>
                </a:solidFill>
              </a:defRPr>
            </a:pPr>
            <a:r>
              <a:rPr sz="1200" b="1">
                <a:solidFill>
                  <a:srgbClr val="0A7C62"/>
                </a:solidFill>
              </a:rPr>
              <a:t>WHY NOW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C4CB7F2-E573-439B-98DA-FC3A1A847C1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0251F"/>
                </a:solidFill>
              </a:defRPr>
            </a:pPr>
            <a:r>
              <a:rPr sz="3600" b="1" dirty="0">
                <a:solidFill>
                  <a:srgbClr val="10251F"/>
                </a:solidFill>
              </a:rPr>
              <a:t>JPEG </a:t>
            </a:r>
            <a:r>
              <a:rPr sz="3600" b="1" dirty="0" err="1">
                <a:solidFill>
                  <a:srgbClr val="10251F"/>
                </a:solidFill>
              </a:rPr>
              <a:t>XL対応は</a:t>
            </a:r>
            <a:r>
              <a:rPr lang="ja-JP" altLang="en-US" sz="3600" b="1" dirty="0">
                <a:solidFill>
                  <a:srgbClr val="10251F"/>
                </a:solidFill>
              </a:rPr>
              <a:t>進展中、普及はこれから</a:t>
            </a:r>
            <a:endParaRPr sz="3600" b="1" dirty="0">
              <a:solidFill>
                <a:srgbClr val="10251F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80B7CA1-F883-40A2-A95A-361D4F65F541}"/>
              </a:ext>
            </a:extLst>
          </p:cNvPr>
          <p:cNvSpPr>
            <a:spLocks noGrp="1"/>
          </p:cNvSpPr>
          <p:nvPr/>
        </p:nvSpPr>
        <p:spPr>
          <a:xfrm>
            <a:off x="628650" y="1228725"/>
            <a:ext cx="10668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56B64"/>
                </a:solidFill>
              </a:defRPr>
            </a:pPr>
            <a:r>
              <a:rPr lang="ja-JP" altLang="en-US" sz="1650" b="0" dirty="0">
                <a:solidFill>
                  <a:srgbClr val="556B64"/>
                </a:solidFill>
              </a:rPr>
              <a:t>まだ</a:t>
            </a:r>
            <a:r>
              <a:rPr sz="1650" b="0" dirty="0">
                <a:solidFill>
                  <a:srgbClr val="556B64"/>
                </a:solidFill>
              </a:rPr>
              <a:t>“</a:t>
            </a:r>
            <a:r>
              <a:rPr sz="1650" b="0" dirty="0" err="1">
                <a:solidFill>
                  <a:srgbClr val="556B64"/>
                </a:solidFill>
              </a:rPr>
              <a:t>全ブラウザ対応済み”ではな</a:t>
            </a:r>
            <a:r>
              <a:rPr lang="ja-JP" altLang="en-US" sz="1650" b="0" dirty="0">
                <a:solidFill>
                  <a:srgbClr val="556B64"/>
                </a:solidFill>
              </a:rPr>
              <a:t>く</a:t>
            </a:r>
            <a:r>
              <a:rPr sz="1650" b="0" dirty="0">
                <a:solidFill>
                  <a:srgbClr val="556B64"/>
                </a:solidFill>
              </a:rPr>
              <a:t>、</a:t>
            </a:r>
            <a:r>
              <a:rPr sz="1650" b="0" dirty="0" err="1">
                <a:solidFill>
                  <a:srgbClr val="556B64"/>
                </a:solidFill>
              </a:rPr>
              <a:t>採用判断に備えるタイミング</a:t>
            </a:r>
            <a:endParaRPr sz="1650" b="0" dirty="0">
              <a:solidFill>
                <a:srgbClr val="556B64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DEDB11A-E132-49A3-9362-4DBE5F07CBE8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556B64"/>
                </a:solidFill>
              </a:defRPr>
            </a:pPr>
            <a:r>
              <a:rPr sz="1200" b="1">
                <a:solidFill>
                  <a:srgbClr val="556B64"/>
                </a:solidFill>
              </a:rPr>
              <a:t>03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2465AA3-3486-4F91-B73E-05ACC7167E67}"/>
              </a:ext>
            </a:extLst>
          </p:cNvPr>
          <p:cNvSpPr>
            <a:spLocks noGrp="1"/>
          </p:cNvSpPr>
          <p:nvPr/>
        </p:nvSpPr>
        <p:spPr>
          <a:xfrm>
            <a:off x="1123950" y="2800350"/>
            <a:ext cx="9620250" cy="38100"/>
          </a:xfrm>
          <a:prstGeom prst="rect">
            <a:avLst/>
          </a:prstGeom>
          <a:solidFill>
            <a:srgbClr val="C7D7D1"/>
          </a:solidFill>
          <a:ln w="0">
            <a:solidFill>
              <a:srgbClr val="C7D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ED9C06F6-027A-4D3E-845B-277F656DAF76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419100" cy="4191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885AA66-8945-4916-B868-3AAF59DEAFC7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2F80ED"/>
                </a:solidFill>
              </a:defRPr>
            </a:pPr>
            <a:r>
              <a:rPr sz="1575" b="1">
                <a:solidFill>
                  <a:srgbClr val="2F80ED"/>
                </a:solidFill>
              </a:rPr>
              <a:t>2022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C999076-27D2-46F7-89EC-59E0584DC03C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485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ISO/IEC 18181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198CE08-2B20-4879-8B11-0BA860A7B2B2}"/>
              </a:ext>
            </a:extLst>
          </p:cNvPr>
          <p:cNvSpPr>
            <a:spLocks noGrp="1"/>
          </p:cNvSpPr>
          <p:nvPr/>
        </p:nvSpPr>
        <p:spPr>
          <a:xfrm>
            <a:off x="723900" y="35528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標準化完了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60341437-DEBB-4C24-87BE-18E80EDC3873}"/>
              </a:ext>
            </a:extLst>
          </p:cNvPr>
          <p:cNvSpPr>
            <a:spLocks noGrp="1"/>
          </p:cNvSpPr>
          <p:nvPr/>
        </p:nvSpPr>
        <p:spPr>
          <a:xfrm>
            <a:off x="3638550" y="2609850"/>
            <a:ext cx="419100" cy="419100"/>
          </a:xfrm>
          <a:prstGeom prst="ellipse">
            <a:avLst/>
          </a:prstGeom>
          <a:solidFill>
            <a:srgbClr val="0A7C6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1C9EC6B-1EE6-4A61-AA10-F57B8BD953F3}"/>
              </a:ext>
            </a:extLst>
          </p:cNvPr>
          <p:cNvSpPr>
            <a:spLocks noGrp="1"/>
          </p:cNvSpPr>
          <p:nvPr/>
        </p:nvSpPr>
        <p:spPr>
          <a:xfrm>
            <a:off x="3448050" y="20764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A7C62"/>
                </a:solidFill>
              </a:defRPr>
            </a:pPr>
            <a:r>
              <a:rPr sz="1575" b="1">
                <a:solidFill>
                  <a:srgbClr val="0A7C62"/>
                </a:solidFill>
              </a:rPr>
              <a:t>2023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BF7604F-5916-4A09-BA65-076DC5FB66B6}"/>
              </a:ext>
            </a:extLst>
          </p:cNvPr>
          <p:cNvSpPr>
            <a:spLocks noGrp="1"/>
          </p:cNvSpPr>
          <p:nvPr/>
        </p:nvSpPr>
        <p:spPr>
          <a:xfrm>
            <a:off x="3105150" y="3181350"/>
            <a:ext cx="1485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Safari 17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CBFB3D1-BEB6-4EC8-8AA8-C2AEF69854C4}"/>
              </a:ext>
            </a:extLst>
          </p:cNvPr>
          <p:cNvSpPr>
            <a:spLocks noGrp="1"/>
          </p:cNvSpPr>
          <p:nvPr/>
        </p:nvSpPr>
        <p:spPr>
          <a:xfrm>
            <a:off x="3105150" y="35528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正式サポート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393DFB83-E411-4170-8CA7-9544421B0E9C}"/>
              </a:ext>
            </a:extLst>
          </p:cNvPr>
          <p:cNvSpPr>
            <a:spLocks noGrp="1"/>
          </p:cNvSpPr>
          <p:nvPr/>
        </p:nvSpPr>
        <p:spPr>
          <a:xfrm>
            <a:off x="6019800" y="2609850"/>
            <a:ext cx="419100" cy="41910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9CF02C0-F027-4563-9BB3-BEB556183F51}"/>
              </a:ext>
            </a:extLst>
          </p:cNvPr>
          <p:cNvSpPr>
            <a:spLocks noGrp="1"/>
          </p:cNvSpPr>
          <p:nvPr/>
        </p:nvSpPr>
        <p:spPr>
          <a:xfrm>
            <a:off x="5829300" y="20764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2B84B"/>
                </a:solidFill>
              </a:defRPr>
            </a:pPr>
            <a:r>
              <a:rPr sz="1575" b="1">
                <a:solidFill>
                  <a:srgbClr val="F2B84B"/>
                </a:solidFill>
              </a:rPr>
              <a:t>2026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13D9ADD-B0B2-42F3-A5FF-BE54A222EB24}"/>
              </a:ext>
            </a:extLst>
          </p:cNvPr>
          <p:cNvSpPr>
            <a:spLocks noGrp="1"/>
          </p:cNvSpPr>
          <p:nvPr/>
        </p:nvSpPr>
        <p:spPr>
          <a:xfrm>
            <a:off x="5486400" y="3181350"/>
            <a:ext cx="1485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Chrome 145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274B8DC-E134-4A9C-8BED-FF2CDEDA68A2}"/>
              </a:ext>
            </a:extLst>
          </p:cNvPr>
          <p:cNvSpPr>
            <a:spLocks noGrp="1"/>
          </p:cNvSpPr>
          <p:nvPr/>
        </p:nvSpPr>
        <p:spPr>
          <a:xfrm>
            <a:off x="5486400" y="35528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フラグ付き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B5723E1D-16EA-4316-BCDC-3B8AC28C4616}"/>
              </a:ext>
            </a:extLst>
          </p:cNvPr>
          <p:cNvSpPr>
            <a:spLocks noGrp="1"/>
          </p:cNvSpPr>
          <p:nvPr/>
        </p:nvSpPr>
        <p:spPr>
          <a:xfrm>
            <a:off x="8401050" y="2609850"/>
            <a:ext cx="419100" cy="419100"/>
          </a:xfrm>
          <a:prstGeom prst="ellipse">
            <a:avLst/>
          </a:prstGeom>
          <a:solidFill>
            <a:srgbClr val="E76F5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9200239-C903-4E33-A2B4-0A7C8C5CF09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E76F51"/>
                </a:solidFill>
              </a:defRPr>
            </a:pPr>
            <a:r>
              <a:rPr sz="1575" b="1">
                <a:solidFill>
                  <a:srgbClr val="E76F51"/>
                </a:solidFill>
              </a:rPr>
              <a:t>2026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7EBF8CE-C80E-4561-AA11-73C82BC9DEB0}"/>
              </a:ext>
            </a:extLst>
          </p:cNvPr>
          <p:cNvSpPr>
            <a:spLocks noGrp="1"/>
          </p:cNvSpPr>
          <p:nvPr/>
        </p:nvSpPr>
        <p:spPr>
          <a:xfrm>
            <a:off x="7867650" y="3181350"/>
            <a:ext cx="1485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Firefox Nightly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A0DE173-4B92-47DA-BDD0-7247FB20EBE1}"/>
              </a:ext>
            </a:extLst>
          </p:cNvPr>
          <p:cNvSpPr>
            <a:spLocks noGrp="1"/>
          </p:cNvSpPr>
          <p:nvPr/>
        </p:nvSpPr>
        <p:spPr>
          <a:xfrm>
            <a:off x="7867650" y="35528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Rust版を既定化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52F8B8E-2571-4576-8C80-719AE887171B}"/>
              </a:ext>
            </a:extLst>
          </p:cNvPr>
          <p:cNvSpPr>
            <a:spLocks noGrp="1"/>
          </p:cNvSpPr>
          <p:nvPr/>
        </p:nvSpPr>
        <p:spPr>
          <a:xfrm>
            <a:off x="628650" y="4305300"/>
            <a:ext cx="109347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D7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FF894B7-189A-4EA0-BCCD-59D296677E20}"/>
              </a:ext>
            </a:extLst>
          </p:cNvPr>
          <p:cNvSpPr>
            <a:spLocks noGrp="1"/>
          </p:cNvSpPr>
          <p:nvPr/>
        </p:nvSpPr>
        <p:spPr>
          <a:xfrm>
            <a:off x="895350" y="4505325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251F"/>
                </a:solidFill>
              </a:defRPr>
            </a:pPr>
            <a:r>
              <a:rPr sz="1650" b="1" dirty="0">
                <a:solidFill>
                  <a:srgbClr val="10251F"/>
                </a:solidFill>
              </a:rPr>
              <a:t>JPEG XL</a:t>
            </a:r>
            <a:r>
              <a:rPr lang="ja-JP" altLang="en-US" sz="1650" b="1" dirty="0">
                <a:solidFill>
                  <a:srgbClr val="10251F"/>
                </a:solidFill>
              </a:rPr>
              <a:t>の</a:t>
            </a:r>
            <a:r>
              <a:rPr sz="1650" b="1" dirty="0" err="1">
                <a:solidFill>
                  <a:srgbClr val="10251F"/>
                </a:solidFill>
              </a:rPr>
              <a:t>価値</a:t>
            </a:r>
            <a:endParaRPr sz="1650" b="1" dirty="0">
              <a:solidFill>
                <a:srgbClr val="10251F"/>
              </a:solidFill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0226D23A-1445-4B4E-BF3A-79C3E641791C}"/>
              </a:ext>
            </a:extLst>
          </p:cNvPr>
          <p:cNvSpPr>
            <a:spLocks noGrp="1"/>
          </p:cNvSpPr>
          <p:nvPr/>
        </p:nvSpPr>
        <p:spPr>
          <a:xfrm>
            <a:off x="895350" y="5010150"/>
            <a:ext cx="1676400" cy="323850"/>
          </a:xfrm>
          <a:prstGeom prst="roundRect">
            <a:avLst>
              <a:gd name="adj" fmla="val 50000"/>
            </a:avLst>
          </a:prstGeom>
          <a:solidFill>
            <a:srgbClr val="E1EE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292EB23-7666-4568-9A79-3364110F67D7}"/>
              </a:ext>
            </a:extLst>
          </p:cNvPr>
          <p:cNvSpPr>
            <a:spLocks noGrp="1"/>
          </p:cNvSpPr>
          <p:nvPr/>
        </p:nvSpPr>
        <p:spPr>
          <a:xfrm>
            <a:off x="990600" y="5019675"/>
            <a:ext cx="1485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F80ED"/>
                </a:solidFill>
              </a:defRPr>
            </a:pPr>
            <a:r>
              <a:rPr sz="1275" b="1">
                <a:solidFill>
                  <a:srgbClr val="2F80ED"/>
                </a:solidFill>
              </a:rPr>
              <a:t>高圧縮・高画質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0F31479E-EFF1-4B77-8DEE-449B4AC96288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E8F5F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B5AE41F-ECA6-4AD4-9806-0615E2CFB94A}"/>
              </a:ext>
            </a:extLst>
          </p:cNvPr>
          <p:cNvSpPr>
            <a:spLocks noGrp="1"/>
          </p:cNvSpPr>
          <p:nvPr/>
        </p:nvSpPr>
        <p:spPr>
          <a:xfrm>
            <a:off x="2819400" y="5019675"/>
            <a:ext cx="1333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A7C62"/>
                </a:solidFill>
              </a:defRPr>
            </a:pPr>
            <a:r>
              <a:rPr sz="1275" b="1">
                <a:solidFill>
                  <a:srgbClr val="0A7C62"/>
                </a:solidFill>
              </a:rPr>
              <a:t>可逆／非可逆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60BC5FB1-DD92-4FB7-9E72-54C8546AB7CD}"/>
              </a:ext>
            </a:extLst>
          </p:cNvPr>
          <p:cNvSpPr>
            <a:spLocks noGrp="1"/>
          </p:cNvSpPr>
          <p:nvPr/>
        </p:nvSpPr>
        <p:spPr>
          <a:xfrm>
            <a:off x="4400550" y="50101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1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63D23ED-A195-4F5F-9DAA-217260BF675D}"/>
              </a:ext>
            </a:extLst>
          </p:cNvPr>
          <p:cNvSpPr>
            <a:spLocks noGrp="1"/>
          </p:cNvSpPr>
          <p:nvPr/>
        </p:nvSpPr>
        <p:spPr>
          <a:xfrm>
            <a:off x="4495800" y="5019675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9B6500"/>
                </a:solidFill>
              </a:defRPr>
            </a:pPr>
            <a:r>
              <a:rPr sz="1275" b="1">
                <a:solidFill>
                  <a:srgbClr val="9B6500"/>
                </a:solidFill>
              </a:rPr>
              <a:t>HDR・広色域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CD24E209-B143-4408-A1EB-2D5006E34851}"/>
              </a:ext>
            </a:extLst>
          </p:cNvPr>
          <p:cNvSpPr>
            <a:spLocks noGrp="1"/>
          </p:cNvSpPr>
          <p:nvPr/>
        </p:nvSpPr>
        <p:spPr>
          <a:xfrm>
            <a:off x="6038850" y="5010150"/>
            <a:ext cx="1752600" cy="323850"/>
          </a:xfrm>
          <a:prstGeom prst="roundRect">
            <a:avLst>
              <a:gd name="adj" fmla="val 50000"/>
            </a:avLst>
          </a:prstGeom>
          <a:solidFill>
            <a:srgbClr val="FBE5DE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BADFC4C4-85E8-4B61-BB5C-77996400C90C}"/>
              </a:ext>
            </a:extLst>
          </p:cNvPr>
          <p:cNvSpPr>
            <a:spLocks noGrp="1"/>
          </p:cNvSpPr>
          <p:nvPr/>
        </p:nvSpPr>
        <p:spPr>
          <a:xfrm>
            <a:off x="6134100" y="5019675"/>
            <a:ext cx="1562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E76F51"/>
                </a:solidFill>
              </a:defRPr>
            </a:pPr>
            <a:r>
              <a:rPr sz="1275" b="1">
                <a:solidFill>
                  <a:srgbClr val="E76F51"/>
                </a:solidFill>
              </a:rPr>
              <a:t>アルファ・アニメ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355FD76-988C-4280-85AA-042A3C7E85E6}"/>
              </a:ext>
            </a:extLst>
          </p:cNvPr>
          <p:cNvSpPr>
            <a:spLocks noGrp="1"/>
          </p:cNvSpPr>
          <p:nvPr/>
        </p:nvSpPr>
        <p:spPr>
          <a:xfrm>
            <a:off x="7943850" y="5010150"/>
            <a:ext cx="1790700" cy="323850"/>
          </a:xfrm>
          <a:prstGeom prst="roundRect">
            <a:avLst>
              <a:gd name="adj" fmla="val 50000"/>
            </a:avLst>
          </a:prstGeom>
          <a:solidFill>
            <a:srgbClr val="CDED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29B4252-9ABC-4298-95A1-A95C6F83E978}"/>
              </a:ext>
            </a:extLst>
          </p:cNvPr>
          <p:cNvSpPr>
            <a:spLocks noGrp="1"/>
          </p:cNvSpPr>
          <p:nvPr/>
        </p:nvSpPr>
        <p:spPr>
          <a:xfrm>
            <a:off x="8039100" y="5019675"/>
            <a:ext cx="1600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63B33"/>
                </a:solidFill>
              </a:defRPr>
            </a:pPr>
            <a:r>
              <a:rPr sz="1275" b="1">
                <a:solidFill>
                  <a:srgbClr val="063B33"/>
                </a:solidFill>
              </a:rPr>
              <a:t>JPEG可逆再圧縮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49531FA5-E05E-493C-A088-927EA3DE554E}"/>
              </a:ext>
            </a:extLst>
          </p:cNvPr>
          <p:cNvSpPr>
            <a:spLocks noGrp="1"/>
          </p:cNvSpPr>
          <p:nvPr/>
        </p:nvSpPr>
        <p:spPr>
          <a:xfrm>
            <a:off x="9886950" y="50101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E1EE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D3FA29D-35CF-4635-AD56-317B87F5C388}"/>
              </a:ext>
            </a:extLst>
          </p:cNvPr>
          <p:cNvSpPr>
            <a:spLocks noGrp="1"/>
          </p:cNvSpPr>
          <p:nvPr/>
        </p:nvSpPr>
        <p:spPr>
          <a:xfrm>
            <a:off x="9982200" y="5019675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F80ED"/>
                </a:solidFill>
              </a:defRPr>
            </a:pPr>
            <a:r>
              <a:rPr sz="1100" b="1" dirty="0" err="1">
                <a:solidFill>
                  <a:srgbClr val="2F80ED"/>
                </a:solidFill>
              </a:rPr>
              <a:t>プログレッシブ</a:t>
            </a:r>
            <a:endParaRPr sz="1100" b="1" dirty="0">
              <a:solidFill>
                <a:srgbClr val="2F80E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027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B470110-02D1-413F-8EF5-53B35117F2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A7C6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49F8D98-960C-4466-9C09-6C70A719CF7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A7C62"/>
                </a:solidFill>
              </a:defRPr>
            </a:pPr>
            <a:r>
              <a:rPr sz="1200" b="1">
                <a:solidFill>
                  <a:srgbClr val="0A7C62"/>
                </a:solidFill>
              </a:rPr>
              <a:t>PROBLEM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CFB9FF6-0753-4B74-B866-41207BC84D9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0251F"/>
                </a:solidFill>
              </a:defRPr>
            </a:pPr>
            <a:r>
              <a:rPr sz="3600" b="1" dirty="0" err="1">
                <a:solidFill>
                  <a:srgbClr val="10251F"/>
                </a:solidFill>
              </a:rPr>
              <a:t>JNI経由では、画像処理のリスクが</a:t>
            </a:r>
            <a:r>
              <a:rPr lang="ja-JP" altLang="en-US" sz="3600" b="1" dirty="0">
                <a:solidFill>
                  <a:srgbClr val="10251F"/>
                </a:solidFill>
              </a:rPr>
              <a:t>プロセス全体に</a:t>
            </a:r>
            <a:r>
              <a:rPr lang="en-US" altLang="ja-JP" sz="3600" b="1" dirty="0">
                <a:solidFill>
                  <a:srgbClr val="10251F"/>
                </a:solidFill>
              </a:rPr>
              <a:t>…</a:t>
            </a:r>
            <a:endParaRPr sz="3600" b="1" dirty="0">
              <a:solidFill>
                <a:srgbClr val="10251F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8DFDDF5-5B0D-4B1A-920D-3D3A20A8304B}"/>
              </a:ext>
            </a:extLst>
          </p:cNvPr>
          <p:cNvSpPr>
            <a:spLocks noGrp="1"/>
          </p:cNvSpPr>
          <p:nvPr/>
        </p:nvSpPr>
        <p:spPr>
          <a:xfrm>
            <a:off x="628650" y="1228725"/>
            <a:ext cx="10668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56B64"/>
                </a:solidFill>
              </a:defRPr>
            </a:pPr>
            <a:r>
              <a:rPr sz="1650" b="0" dirty="0" err="1">
                <a:solidFill>
                  <a:srgbClr val="556B64"/>
                </a:solidFill>
              </a:rPr>
              <a:t>従来</a:t>
            </a:r>
            <a:r>
              <a:rPr lang="ja-JP" altLang="en-US" sz="1650" b="0" dirty="0">
                <a:solidFill>
                  <a:srgbClr val="556B64"/>
                </a:solidFill>
              </a:rPr>
              <a:t>方式は</a:t>
            </a:r>
            <a:r>
              <a:rPr sz="1650" b="0" dirty="0" err="1">
                <a:solidFill>
                  <a:srgbClr val="556B64"/>
                </a:solidFill>
              </a:rPr>
              <a:t>運用負荷と障害</a:t>
            </a:r>
            <a:r>
              <a:rPr lang="ja-JP" altLang="en-US" sz="1650" b="0" dirty="0">
                <a:solidFill>
                  <a:srgbClr val="556B64"/>
                </a:solidFill>
              </a:rPr>
              <a:t>範囲が</a:t>
            </a:r>
            <a:r>
              <a:rPr sz="1650" b="0" dirty="0" err="1">
                <a:solidFill>
                  <a:srgbClr val="556B64"/>
                </a:solidFill>
              </a:rPr>
              <a:t>サーバー用途の足かせになる</a:t>
            </a:r>
            <a:endParaRPr sz="1650" b="0" dirty="0">
              <a:solidFill>
                <a:srgbClr val="556B64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02A612C-3ED0-4AAA-9FF4-F276030AC679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556B64"/>
                </a:solidFill>
              </a:defRPr>
            </a:pPr>
            <a:r>
              <a:rPr sz="1200" b="1">
                <a:solidFill>
                  <a:srgbClr val="556B64"/>
                </a:solidFill>
              </a:rPr>
              <a:t>04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9C60DA3-120B-406B-8D50-C83F41FDCFA8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E76F51"/>
                </a:solidFill>
              </a:defRPr>
            </a:pPr>
            <a:r>
              <a:rPr sz="2100" b="1">
                <a:solidFill>
                  <a:srgbClr val="E76F51"/>
                </a:solidFill>
              </a:rPr>
              <a:t>従来：libjxl + JNI</a:t>
            </a: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29C9B626-8541-4E62-9E81-96E5ECD6C768}"/>
              </a:ext>
            </a:extLst>
          </p:cNvPr>
          <p:cNvSpPr>
            <a:spLocks noGrp="1"/>
          </p:cNvSpPr>
          <p:nvPr/>
        </p:nvSpPr>
        <p:spPr>
          <a:xfrm>
            <a:off x="1952625" y="3057525"/>
            <a:ext cx="714375" cy="342900"/>
          </a:xfrm>
          <a:prstGeom prst="rightArrow">
            <a:avLst/>
          </a:prstGeom>
          <a:solidFill>
            <a:srgbClr val="E76F51"/>
          </a:solidFill>
          <a:ln w="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C829398D-212D-45CB-B018-F694F879C8A0}"/>
              </a:ext>
            </a:extLst>
          </p:cNvPr>
          <p:cNvSpPr>
            <a:spLocks noGrp="1"/>
          </p:cNvSpPr>
          <p:nvPr/>
        </p:nvSpPr>
        <p:spPr>
          <a:xfrm>
            <a:off x="4191000" y="3057525"/>
            <a:ext cx="714375" cy="342900"/>
          </a:xfrm>
          <a:prstGeom prst="rightArrow">
            <a:avLst/>
          </a:prstGeom>
          <a:solidFill>
            <a:srgbClr val="E76F51"/>
          </a:solidFill>
          <a:ln w="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8BB5244-1F0C-4CE9-BBE6-36BF0EB94DB3}"/>
              </a:ext>
            </a:extLst>
          </p:cNvPr>
          <p:cNvSpPr>
            <a:spLocks noGrp="1"/>
          </p:cNvSpPr>
          <p:nvPr/>
        </p:nvSpPr>
        <p:spPr>
          <a:xfrm>
            <a:off x="781050" y="2590800"/>
            <a:ext cx="1181100" cy="1276350"/>
          </a:xfrm>
          <a:prstGeom prst="roundRect">
            <a:avLst>
              <a:gd name="adj" fmla="val 14516"/>
            </a:avLst>
          </a:prstGeom>
          <a:solidFill>
            <a:srgbClr val="FBE5DE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F2567B7-C3DC-45DC-B364-0DA63E330D3E}"/>
              </a:ext>
            </a:extLst>
          </p:cNvPr>
          <p:cNvSpPr>
            <a:spLocks noGrp="1"/>
          </p:cNvSpPr>
          <p:nvPr/>
        </p:nvSpPr>
        <p:spPr>
          <a:xfrm>
            <a:off x="952500" y="2790825"/>
            <a:ext cx="838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10251F"/>
                </a:solidFill>
              </a:defRPr>
            </a:pPr>
            <a:r>
              <a:rPr sz="1950" b="1">
                <a:solidFill>
                  <a:srgbClr val="10251F"/>
                </a:solidFill>
              </a:rPr>
              <a:t>JXL</a:t>
            </a:r>
          </a:p>
          <a:p>
            <a:pPr algn="ctr">
              <a:defRPr sz="1950" b="1">
                <a:solidFill>
                  <a:srgbClr val="10251F"/>
                </a:solidFill>
              </a:defRPr>
            </a:pPr>
            <a:r>
              <a:rPr sz="1950" b="1">
                <a:solidFill>
                  <a:srgbClr val="10251F"/>
                </a:solidFill>
              </a:rPr>
              <a:t>入力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E9B34332-0F88-4489-983D-DE24082F7E9B}"/>
              </a:ext>
            </a:extLst>
          </p:cNvPr>
          <p:cNvSpPr>
            <a:spLocks noGrp="1"/>
          </p:cNvSpPr>
          <p:nvPr/>
        </p:nvSpPr>
        <p:spPr>
          <a:xfrm>
            <a:off x="2667000" y="2590800"/>
            <a:ext cx="1524000" cy="1276350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4F8545C-EA8A-41DC-BD75-A9B6E91883F9}"/>
              </a:ext>
            </a:extLst>
          </p:cNvPr>
          <p:cNvSpPr>
            <a:spLocks noGrp="1"/>
          </p:cNvSpPr>
          <p:nvPr/>
        </p:nvSpPr>
        <p:spPr>
          <a:xfrm>
            <a:off x="2857500" y="2790825"/>
            <a:ext cx="114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10251F"/>
                </a:solidFill>
              </a:defRPr>
            </a:pPr>
            <a:r>
              <a:rPr sz="1950" b="1">
                <a:solidFill>
                  <a:srgbClr val="10251F"/>
                </a:solidFill>
              </a:rPr>
              <a:t>JNI</a:t>
            </a:r>
          </a:p>
          <a:p>
            <a:pPr algn="ctr">
              <a:defRPr sz="1950" b="1">
                <a:solidFill>
                  <a:srgbClr val="10251F"/>
                </a:solidFill>
              </a:defRPr>
            </a:pPr>
            <a:r>
              <a:rPr sz="1950" b="1">
                <a:solidFill>
                  <a:srgbClr val="10251F"/>
                </a:solidFill>
              </a:rPr>
              <a:t>境界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850CCED5-3A23-4C92-A251-72D9AAD82D4F}"/>
              </a:ext>
            </a:extLst>
          </p:cNvPr>
          <p:cNvSpPr>
            <a:spLocks noGrp="1"/>
          </p:cNvSpPr>
          <p:nvPr/>
        </p:nvSpPr>
        <p:spPr>
          <a:xfrm>
            <a:off x="4905375" y="2590800"/>
            <a:ext cx="1571625" cy="1276350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D3BE894-F1F8-45B0-964A-A3AF0920B7F0}"/>
              </a:ext>
            </a:extLst>
          </p:cNvPr>
          <p:cNvSpPr>
            <a:spLocks noGrp="1"/>
          </p:cNvSpPr>
          <p:nvPr/>
        </p:nvSpPr>
        <p:spPr>
          <a:xfrm>
            <a:off x="5095875" y="2790825"/>
            <a:ext cx="1190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10251F"/>
                </a:solidFill>
              </a:defRPr>
            </a:pPr>
            <a:r>
              <a:rPr sz="1950" b="1" dirty="0" err="1">
                <a:solidFill>
                  <a:srgbClr val="10251F"/>
                </a:solidFill>
              </a:rPr>
              <a:t>ネイティブ</a:t>
            </a:r>
            <a:endParaRPr sz="1950" b="1" dirty="0">
              <a:solidFill>
                <a:srgbClr val="10251F"/>
              </a:solidFill>
            </a:endParaRPr>
          </a:p>
          <a:p>
            <a:pPr algn="ctr">
              <a:defRPr sz="1950" b="1">
                <a:solidFill>
                  <a:srgbClr val="10251F"/>
                </a:solidFill>
              </a:defRPr>
            </a:pPr>
            <a:r>
              <a:rPr sz="1950" b="1" dirty="0" err="1">
                <a:solidFill>
                  <a:srgbClr val="10251F"/>
                </a:solidFill>
              </a:rPr>
              <a:t>libjxl</a:t>
            </a:r>
            <a:endParaRPr sz="1950" b="1" dirty="0">
              <a:solidFill>
                <a:srgbClr val="10251F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C4D765B-AA1E-4773-A6B6-A0A7EF8C9129}"/>
              </a:ext>
            </a:extLst>
          </p:cNvPr>
          <p:cNvSpPr>
            <a:spLocks noGrp="1"/>
          </p:cNvSpPr>
          <p:nvPr/>
        </p:nvSpPr>
        <p:spPr>
          <a:xfrm>
            <a:off x="809625" y="41719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E76F51"/>
                </a:solidFill>
              </a:defRPr>
            </a:pPr>
            <a:r>
              <a:rPr sz="1575" b="1">
                <a:solidFill>
                  <a:srgbClr val="E76F51"/>
                </a:solidFill>
              </a:rPr>
              <a:t>OS／CPU別バイナリ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328B457-BAEA-45F5-AE61-E06E0325A2C4}"/>
              </a:ext>
            </a:extLst>
          </p:cNvPr>
          <p:cNvSpPr>
            <a:spLocks noGrp="1"/>
          </p:cNvSpPr>
          <p:nvPr/>
        </p:nvSpPr>
        <p:spPr>
          <a:xfrm>
            <a:off x="3381375" y="41719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E76F51"/>
                </a:solidFill>
              </a:defRPr>
            </a:pPr>
            <a:r>
              <a:rPr sz="1400" b="1" dirty="0" err="1">
                <a:solidFill>
                  <a:srgbClr val="E76F51"/>
                </a:solidFill>
              </a:rPr>
              <a:t>クラッシュ時は</a:t>
            </a:r>
            <a:r>
              <a:rPr lang="ja-JP" altLang="en-US" sz="1400" b="1" dirty="0">
                <a:solidFill>
                  <a:srgbClr val="E76F51"/>
                </a:solidFill>
              </a:rPr>
              <a:t>プロセス全体に</a:t>
            </a:r>
            <a:r>
              <a:rPr sz="1400" b="1" dirty="0" err="1">
                <a:solidFill>
                  <a:srgbClr val="E76F51"/>
                </a:solidFill>
              </a:rPr>
              <a:t>波及</a:t>
            </a:r>
            <a:endParaRPr sz="1400" b="1" dirty="0">
              <a:solidFill>
                <a:srgbClr val="E76F51"/>
              </a:solidFill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94428BF4-EBED-40D5-B4BE-55054CC0ED43}"/>
              </a:ext>
            </a:extLst>
          </p:cNvPr>
          <p:cNvSpPr>
            <a:spLocks noGrp="1"/>
          </p:cNvSpPr>
          <p:nvPr/>
        </p:nvSpPr>
        <p:spPr>
          <a:xfrm>
            <a:off x="7067550" y="1809750"/>
            <a:ext cx="4495800" cy="3429000"/>
          </a:xfrm>
          <a:prstGeom prst="roundRect">
            <a:avLst>
              <a:gd name="adj" fmla="val 6667"/>
            </a:avLst>
          </a:prstGeom>
          <a:solidFill>
            <a:srgbClr val="063B3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55A9C1D-DF31-4B72-AFAC-29E45FDE6107}"/>
              </a:ext>
            </a:extLst>
          </p:cNvPr>
          <p:cNvSpPr>
            <a:spLocks noGrp="1"/>
          </p:cNvSpPr>
          <p:nvPr/>
        </p:nvSpPr>
        <p:spPr>
          <a:xfrm>
            <a:off x="7372350" y="2057400"/>
            <a:ext cx="3848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jxl-java：Wasmサンドボックス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025AF50E-FA67-4AE3-A2F9-8FE9B819A36D}"/>
              </a:ext>
            </a:extLst>
          </p:cNvPr>
          <p:cNvSpPr>
            <a:spLocks noGrp="1"/>
          </p:cNvSpPr>
          <p:nvPr/>
        </p:nvSpPr>
        <p:spPr>
          <a:xfrm>
            <a:off x="7429500" y="2640260"/>
            <a:ext cx="3771900" cy="1962150"/>
          </a:xfrm>
          <a:prstGeom prst="roundRect">
            <a:avLst>
              <a:gd name="adj" fmla="val 10680"/>
            </a:avLst>
          </a:prstGeom>
          <a:solidFill>
            <a:srgbClr val="E8F5F0"/>
          </a:solidFill>
          <a:ln w="190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3CE002B2-FB15-476A-9202-85EAB538D92D}"/>
              </a:ext>
            </a:extLst>
          </p:cNvPr>
          <p:cNvSpPr>
            <a:spLocks noGrp="1"/>
          </p:cNvSpPr>
          <p:nvPr/>
        </p:nvSpPr>
        <p:spPr>
          <a:xfrm>
            <a:off x="7753350" y="2964110"/>
            <a:ext cx="3124200" cy="13144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0A7C6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6D63BA5-0360-4DCF-B125-4E4F72241362}"/>
              </a:ext>
            </a:extLst>
          </p:cNvPr>
          <p:cNvSpPr>
            <a:spLocks noGrp="1"/>
          </p:cNvSpPr>
          <p:nvPr/>
        </p:nvSpPr>
        <p:spPr>
          <a:xfrm>
            <a:off x="8058150" y="3145085"/>
            <a:ext cx="2514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10251F"/>
                </a:solidFill>
              </a:defRPr>
            </a:pPr>
            <a:r>
              <a:rPr sz="1950" b="1">
                <a:solidFill>
                  <a:srgbClr val="10251F"/>
                </a:solidFill>
              </a:rPr>
              <a:t>Rust decoder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AC11882-3A77-49E3-A253-2E5B0B347A53}"/>
              </a:ext>
            </a:extLst>
          </p:cNvPr>
          <p:cNvSpPr>
            <a:spLocks noGrp="1"/>
          </p:cNvSpPr>
          <p:nvPr/>
        </p:nvSpPr>
        <p:spPr>
          <a:xfrm>
            <a:off x="7943850" y="3630860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A7C62"/>
                </a:solidFill>
              </a:defRPr>
            </a:pPr>
            <a:r>
              <a:rPr sz="1500" b="1">
                <a:solidFill>
                  <a:srgbClr val="0A7C62"/>
                </a:solidFill>
              </a:rPr>
              <a:t>異常はIOExceptionとして隔離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DF39C76-3BE5-4DE0-A0C4-FC2157301D0C}"/>
              </a:ext>
            </a:extLst>
          </p:cNvPr>
          <p:cNvSpPr>
            <a:spLocks noGrp="1"/>
          </p:cNvSpPr>
          <p:nvPr/>
        </p:nvSpPr>
        <p:spPr>
          <a:xfrm>
            <a:off x="7505700" y="277361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A7C62"/>
                </a:solidFill>
              </a:defRPr>
            </a:pPr>
            <a:r>
              <a:rPr sz="1350" b="1">
                <a:solidFill>
                  <a:srgbClr val="0A7C62"/>
                </a:solidFill>
              </a:rPr>
              <a:t>JVM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910B9135-343D-41FE-8FEF-E30D401E3A65}"/>
              </a:ext>
            </a:extLst>
          </p:cNvPr>
          <p:cNvSpPr>
            <a:spLocks noGrp="1"/>
          </p:cNvSpPr>
          <p:nvPr/>
        </p:nvSpPr>
        <p:spPr>
          <a:xfrm>
            <a:off x="7410450" y="4808900"/>
            <a:ext cx="1200150" cy="323850"/>
          </a:xfrm>
          <a:prstGeom prst="roundRect">
            <a:avLst>
              <a:gd name="adj" fmla="val 50000"/>
            </a:avLst>
          </a:prstGeom>
          <a:solidFill>
            <a:srgbClr val="FFF1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8127B60-6018-4DAE-8CD1-A802E4663836}"/>
              </a:ext>
            </a:extLst>
          </p:cNvPr>
          <p:cNvSpPr>
            <a:spLocks noGrp="1"/>
          </p:cNvSpPr>
          <p:nvPr/>
        </p:nvSpPr>
        <p:spPr>
          <a:xfrm>
            <a:off x="7505700" y="4818425"/>
            <a:ext cx="1009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63B33"/>
                </a:solidFill>
              </a:defRPr>
            </a:pPr>
            <a:r>
              <a:rPr sz="1275" b="1">
                <a:solidFill>
                  <a:srgbClr val="063B33"/>
                </a:solidFill>
              </a:rPr>
              <a:t>JNIなし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FC29912D-B0A7-4032-8DC0-BDCDA3B74F2D}"/>
              </a:ext>
            </a:extLst>
          </p:cNvPr>
          <p:cNvSpPr>
            <a:spLocks noGrp="1"/>
          </p:cNvSpPr>
          <p:nvPr/>
        </p:nvSpPr>
        <p:spPr>
          <a:xfrm>
            <a:off x="8763000" y="4808900"/>
            <a:ext cx="1352550" cy="323850"/>
          </a:xfrm>
          <a:prstGeom prst="roundRect">
            <a:avLst>
              <a:gd name="adj" fmla="val 50000"/>
            </a:avLst>
          </a:prstGeom>
          <a:solidFill>
            <a:srgbClr val="CDED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7A9F368-BDDA-43FA-ABD1-83FAAB391F88}"/>
              </a:ext>
            </a:extLst>
          </p:cNvPr>
          <p:cNvSpPr>
            <a:spLocks noGrp="1"/>
          </p:cNvSpPr>
          <p:nvPr/>
        </p:nvSpPr>
        <p:spPr>
          <a:xfrm>
            <a:off x="8858250" y="4818425"/>
            <a:ext cx="1162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63B33"/>
                </a:solidFill>
              </a:defRPr>
            </a:pPr>
            <a:r>
              <a:rPr sz="1275" b="1">
                <a:solidFill>
                  <a:srgbClr val="063B33"/>
                </a:solidFill>
              </a:rPr>
              <a:t>配布はJAR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26625B62-2916-4646-8EBA-8A3DA9855E82}"/>
              </a:ext>
            </a:extLst>
          </p:cNvPr>
          <p:cNvSpPr>
            <a:spLocks noGrp="1"/>
          </p:cNvSpPr>
          <p:nvPr/>
        </p:nvSpPr>
        <p:spPr>
          <a:xfrm>
            <a:off x="10267950" y="4808900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1EE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BC5B680-5DCE-43A9-82A1-4DE04F2163D4}"/>
              </a:ext>
            </a:extLst>
          </p:cNvPr>
          <p:cNvSpPr>
            <a:spLocks noGrp="1"/>
          </p:cNvSpPr>
          <p:nvPr/>
        </p:nvSpPr>
        <p:spPr>
          <a:xfrm>
            <a:off x="10363200" y="4818425"/>
            <a:ext cx="9906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F80ED"/>
                </a:solidFill>
              </a:defRPr>
            </a:pPr>
            <a:r>
              <a:rPr sz="1275" b="1">
                <a:solidFill>
                  <a:srgbClr val="2F80ED"/>
                </a:solidFill>
              </a:rPr>
              <a:t>全OS／CPU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3290C44F-DBA7-4FCA-983A-1E48E78A32EF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10782300" cy="647700"/>
          </a:xfrm>
          <a:prstGeom prst="roundRect">
            <a:avLst>
              <a:gd name="adj" fmla="val 23529"/>
            </a:avLst>
          </a:prstGeom>
          <a:solidFill>
            <a:srgbClr val="FFF1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11B8D49-B57C-4FF5-A1B9-A2BB46AA23C8}"/>
              </a:ext>
            </a:extLst>
          </p:cNvPr>
          <p:cNvSpPr>
            <a:spLocks noGrp="1"/>
          </p:cNvSpPr>
          <p:nvPr/>
        </p:nvSpPr>
        <p:spPr>
          <a:xfrm>
            <a:off x="1009650" y="5619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063B33"/>
                </a:solidFill>
              </a:defRPr>
            </a:pPr>
            <a:r>
              <a:rPr lang="ja-JP" altLang="en-US" sz="1725" b="1" dirty="0">
                <a:solidFill>
                  <a:srgbClr val="063B33"/>
                </a:solidFill>
              </a:rPr>
              <a:t>外</a:t>
            </a:r>
            <a:r>
              <a:rPr sz="1725" b="1" dirty="0">
                <a:solidFill>
                  <a:srgbClr val="063B33"/>
                </a:solidFill>
              </a:rPr>
              <a:t>部</a:t>
            </a:r>
            <a:r>
              <a:rPr lang="ja-JP" altLang="en-US" sz="1725" b="1" dirty="0">
                <a:solidFill>
                  <a:srgbClr val="063B33"/>
                </a:solidFill>
              </a:rPr>
              <a:t>から</a:t>
            </a:r>
            <a:r>
              <a:rPr sz="1725" b="1" dirty="0" err="1">
                <a:solidFill>
                  <a:srgbClr val="063B33"/>
                </a:solidFill>
              </a:rPr>
              <a:t>入力を扱うなら、速度だけでなく“障害</a:t>
            </a:r>
            <a:r>
              <a:rPr lang="ja-JP" altLang="en-US" sz="1725" b="1" dirty="0">
                <a:solidFill>
                  <a:srgbClr val="063B33"/>
                </a:solidFill>
              </a:rPr>
              <a:t>範囲</a:t>
            </a:r>
            <a:r>
              <a:rPr sz="1725" b="1" dirty="0">
                <a:solidFill>
                  <a:srgbClr val="063B33"/>
                </a:solidFill>
              </a:rPr>
              <a:t>”</a:t>
            </a:r>
            <a:r>
              <a:rPr sz="1725" b="1" dirty="0" err="1">
                <a:solidFill>
                  <a:srgbClr val="063B33"/>
                </a:solidFill>
              </a:rPr>
              <a:t>と“配布運用”を含めて</a:t>
            </a:r>
            <a:r>
              <a:rPr lang="ja-JP" altLang="en-US" sz="1725" b="1" dirty="0">
                <a:solidFill>
                  <a:srgbClr val="063B33"/>
                </a:solidFill>
              </a:rPr>
              <a:t>の</a:t>
            </a:r>
            <a:r>
              <a:rPr sz="1725" b="1" dirty="0" err="1">
                <a:solidFill>
                  <a:srgbClr val="063B33"/>
                </a:solidFill>
              </a:rPr>
              <a:t>比較</a:t>
            </a:r>
            <a:r>
              <a:rPr lang="ja-JP" altLang="en-US" sz="1725" b="1" dirty="0">
                <a:solidFill>
                  <a:srgbClr val="063B33"/>
                </a:solidFill>
              </a:rPr>
              <a:t>が必要</a:t>
            </a:r>
            <a:endParaRPr sz="1725" b="1" dirty="0">
              <a:solidFill>
                <a:srgbClr val="063B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780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BD17B02-F992-4818-A61E-1A9FCDE22C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A7C6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8CD43F-5521-4E29-9DCC-43B2E2EF84C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A7C62"/>
                </a:solidFill>
              </a:defRPr>
            </a:pPr>
            <a:r>
              <a:rPr sz="1200" b="1">
                <a:solidFill>
                  <a:srgbClr val="0A7C62"/>
                </a:solidFill>
              </a:rPr>
              <a:t>APPROACH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272C6D0-0F87-4804-8771-6CC52EB981E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0251F"/>
                </a:solidFill>
              </a:defRPr>
            </a:pPr>
            <a:r>
              <a:rPr sz="3600" b="1">
                <a:solidFill>
                  <a:srgbClr val="10251F"/>
                </a:solidFill>
              </a:rPr>
              <a:t>Rust製デコーダーを、ビルド時にJavaへ持ち込む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500C26-820F-4562-809B-F94E4492BC2D}"/>
              </a:ext>
            </a:extLst>
          </p:cNvPr>
          <p:cNvSpPr>
            <a:spLocks noGrp="1"/>
          </p:cNvSpPr>
          <p:nvPr/>
        </p:nvSpPr>
        <p:spPr>
          <a:xfrm>
            <a:off x="628650" y="1228725"/>
            <a:ext cx="10668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56B64"/>
                </a:solidFill>
              </a:defRPr>
            </a:pPr>
            <a:r>
              <a:rPr sz="1650" b="0">
                <a:solidFill>
                  <a:srgbClr val="556B64"/>
                </a:solidFill>
              </a:rPr>
              <a:t>jxl-rs → WebAssembly → Chicory AOTの3段階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D10076C-6C79-4302-82B6-F738EC02F6A4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556B64"/>
                </a:solidFill>
              </a:defRPr>
            </a:pPr>
            <a:r>
              <a:rPr sz="1200" b="1">
                <a:solidFill>
                  <a:srgbClr val="556B64"/>
                </a:solidFill>
              </a:rPr>
              <a:t>05</a:t>
            </a: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CAC1E37E-3434-4523-930E-F1DAC1250B1D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781050" cy="419100"/>
          </a:xfrm>
          <a:prstGeom prst="rightArrow">
            <a:avLst/>
          </a:prstGeom>
          <a:solidFill>
            <a:srgbClr val="C7D7D1"/>
          </a:solidFill>
          <a:ln w="0">
            <a:solidFill>
              <a:srgbClr val="C7D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6C4D09C3-B83C-4AB3-B97F-5EFB11F88728}"/>
              </a:ext>
            </a:extLst>
          </p:cNvPr>
          <p:cNvSpPr>
            <a:spLocks noGrp="1"/>
          </p:cNvSpPr>
          <p:nvPr/>
        </p:nvSpPr>
        <p:spPr>
          <a:xfrm>
            <a:off x="7734300" y="2914650"/>
            <a:ext cx="781050" cy="419100"/>
          </a:xfrm>
          <a:prstGeom prst="rightArrow">
            <a:avLst/>
          </a:prstGeom>
          <a:solidFill>
            <a:srgbClr val="C7D7D1"/>
          </a:solidFill>
          <a:ln w="0">
            <a:solidFill>
              <a:srgbClr val="C7D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B079D2AB-61F4-40E6-AC34-44B6C6F72D6E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2762250" cy="22479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C7D7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E0A6A3F-3AFC-4ED9-8A9B-6065DD8FE4E3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1733550" cy="323850"/>
          </a:xfrm>
          <a:prstGeom prst="roundRect">
            <a:avLst>
              <a:gd name="adj" fmla="val 50000"/>
            </a:avLst>
          </a:prstGeom>
          <a:solidFill>
            <a:srgbClr val="CDED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CD9B94A-3B22-48DD-93A0-06E7A6859189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1543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63B33"/>
                </a:solidFill>
              </a:defRPr>
            </a:pPr>
            <a:r>
              <a:rPr sz="1275" b="1">
                <a:solidFill>
                  <a:srgbClr val="063B33"/>
                </a:solidFill>
              </a:rPr>
              <a:t>MEMORY SAFE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4D2EA2C-A90D-4BB5-90DE-7722C513A204}"/>
              </a:ext>
            </a:extLst>
          </p:cNvPr>
          <p:cNvSpPr>
            <a:spLocks noGrp="1"/>
          </p:cNvSpPr>
          <p:nvPr/>
        </p:nvSpPr>
        <p:spPr>
          <a:xfrm>
            <a:off x="857250" y="28384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51F"/>
                </a:solidFill>
              </a:defRPr>
            </a:pPr>
            <a:r>
              <a:rPr sz="2700" b="1">
                <a:solidFill>
                  <a:srgbClr val="10251F"/>
                </a:solidFill>
              </a:rPr>
              <a:t>jxl-rs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7B2CFC5-0A97-494F-8FBE-C78925400313}"/>
              </a:ext>
            </a:extLst>
          </p:cNvPr>
          <p:cNvSpPr>
            <a:spLocks noGrp="1"/>
          </p:cNvSpPr>
          <p:nvPr/>
        </p:nvSpPr>
        <p:spPr>
          <a:xfrm>
            <a:off x="857250" y="3371850"/>
            <a:ext cx="2190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56B64"/>
                </a:solidFill>
              </a:defRPr>
            </a:pPr>
            <a:r>
              <a:rPr sz="1650" b="0">
                <a:solidFill>
                  <a:srgbClr val="556B64"/>
                </a:solidFill>
              </a:rPr>
              <a:t>Rust製JPEG XL</a:t>
            </a:r>
          </a:p>
          <a:p>
            <a:pPr algn="l">
              <a:defRPr sz="1650" b="0">
                <a:solidFill>
                  <a:srgbClr val="556B64"/>
                </a:solidFill>
              </a:defRPr>
            </a:pPr>
            <a:r>
              <a:rPr sz="1650" b="0">
                <a:solidFill>
                  <a:srgbClr val="556B64"/>
                </a:solidFill>
              </a:rPr>
              <a:t>デコーダー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963FE79C-DBFE-41A4-9791-F872F9A121FA}"/>
              </a:ext>
            </a:extLst>
          </p:cNvPr>
          <p:cNvSpPr>
            <a:spLocks noGrp="1"/>
          </p:cNvSpPr>
          <p:nvPr/>
        </p:nvSpPr>
        <p:spPr>
          <a:xfrm>
            <a:off x="4171950" y="2095500"/>
            <a:ext cx="3562350" cy="2247900"/>
          </a:xfrm>
          <a:prstGeom prst="roundRect">
            <a:avLst>
              <a:gd name="adj" fmla="val 7627"/>
            </a:avLst>
          </a:prstGeom>
          <a:solidFill>
            <a:srgbClr val="E8F5F0"/>
          </a:solidFill>
          <a:ln w="9525">
            <a:solidFill>
              <a:srgbClr val="16A0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5A34076-A89C-423E-AB85-C57213298639}"/>
              </a:ext>
            </a:extLst>
          </p:cNvPr>
          <p:cNvSpPr>
            <a:spLocks noGrp="1"/>
          </p:cNvSpPr>
          <p:nvPr/>
        </p:nvSpPr>
        <p:spPr>
          <a:xfrm>
            <a:off x="4438650" y="232410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DBBA059-309D-49F6-B49D-C9B99F18F430}"/>
              </a:ext>
            </a:extLst>
          </p:cNvPr>
          <p:cNvSpPr>
            <a:spLocks noGrp="1"/>
          </p:cNvSpPr>
          <p:nvPr/>
        </p:nvSpPr>
        <p:spPr>
          <a:xfrm>
            <a:off x="4533900" y="2333625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A7C62"/>
                </a:solidFill>
              </a:defRPr>
            </a:pPr>
            <a:r>
              <a:rPr sz="1275" b="1">
                <a:solidFill>
                  <a:srgbClr val="0A7C62"/>
                </a:solidFill>
              </a:rPr>
              <a:t>PORTABLE IR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4B805D0-16A6-4274-8BE5-6552A85ADC5F}"/>
              </a:ext>
            </a:extLst>
          </p:cNvPr>
          <p:cNvSpPr>
            <a:spLocks noGrp="1"/>
          </p:cNvSpPr>
          <p:nvPr/>
        </p:nvSpPr>
        <p:spPr>
          <a:xfrm>
            <a:off x="4438650" y="2838450"/>
            <a:ext cx="3028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0251F"/>
                </a:solidFill>
              </a:defRPr>
            </a:pPr>
            <a:r>
              <a:rPr sz="2550" b="1">
                <a:solidFill>
                  <a:srgbClr val="10251F"/>
                </a:solidFill>
              </a:rPr>
              <a:t>WebAssembly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3DCBB2E-7AE3-4059-B2CA-D339AA8FF18A}"/>
              </a:ext>
            </a:extLst>
          </p:cNvPr>
          <p:cNvSpPr>
            <a:spLocks noGrp="1"/>
          </p:cNvSpPr>
          <p:nvPr/>
        </p:nvSpPr>
        <p:spPr>
          <a:xfrm>
            <a:off x="4438650" y="337185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56B64"/>
                </a:solidFill>
              </a:defRPr>
            </a:pPr>
            <a:r>
              <a:rPr sz="1650" b="0">
                <a:solidFill>
                  <a:srgbClr val="556B64"/>
                </a:solidFill>
              </a:rPr>
              <a:t>wasm32へコンパイル</a:t>
            </a:r>
          </a:p>
          <a:p>
            <a:pPr algn="l">
              <a:defRPr sz="1650" b="0">
                <a:solidFill>
                  <a:srgbClr val="556B64"/>
                </a:solidFill>
              </a:defRPr>
            </a:pPr>
            <a:r>
              <a:rPr sz="1650" b="0">
                <a:solidFill>
                  <a:srgbClr val="556B64"/>
                </a:solidFill>
              </a:rPr>
              <a:t>ネイティブABIを切り離す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125C108-E2EA-4FB4-BC1E-98C4E3DBAA85}"/>
              </a:ext>
            </a:extLst>
          </p:cNvPr>
          <p:cNvSpPr>
            <a:spLocks noGrp="1"/>
          </p:cNvSpPr>
          <p:nvPr/>
        </p:nvSpPr>
        <p:spPr>
          <a:xfrm>
            <a:off x="8515350" y="2095500"/>
            <a:ext cx="3048000" cy="22479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C7D7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2FD572F-004D-4CF1-883C-24F8F290FA97}"/>
              </a:ext>
            </a:extLst>
          </p:cNvPr>
          <p:cNvSpPr>
            <a:spLocks noGrp="1"/>
          </p:cNvSpPr>
          <p:nvPr/>
        </p:nvSpPr>
        <p:spPr>
          <a:xfrm>
            <a:off x="8763000" y="2324100"/>
            <a:ext cx="1790700" cy="323850"/>
          </a:xfrm>
          <a:prstGeom prst="roundRect">
            <a:avLst>
              <a:gd name="adj" fmla="val 50000"/>
            </a:avLst>
          </a:prstGeom>
          <a:solidFill>
            <a:srgbClr val="FFF1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C6EB340-2C81-4C54-96EE-F427FF07221C}"/>
              </a:ext>
            </a:extLst>
          </p:cNvPr>
          <p:cNvSpPr>
            <a:spLocks noGrp="1"/>
          </p:cNvSpPr>
          <p:nvPr/>
        </p:nvSpPr>
        <p:spPr>
          <a:xfrm>
            <a:off x="8858250" y="2333625"/>
            <a:ext cx="1600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63B33"/>
                </a:solidFill>
              </a:defRPr>
            </a:pPr>
            <a:r>
              <a:rPr sz="1275" b="1">
                <a:solidFill>
                  <a:srgbClr val="063B33"/>
                </a:solidFill>
              </a:rPr>
              <a:t>BUILD-TIME AOT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65A3BF4-3936-46DE-A1C1-FE5E278D2034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75" b="1">
                <a:solidFill>
                  <a:srgbClr val="10251F"/>
                </a:solidFill>
              </a:defRPr>
            </a:pPr>
            <a:r>
              <a:rPr sz="2475" b="1">
                <a:solidFill>
                  <a:srgbClr val="10251F"/>
                </a:solidFill>
              </a:rPr>
              <a:t>Chicory AOT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A3A64E2-BADE-4299-BFC5-929C15CFBEBC}"/>
              </a:ext>
            </a:extLst>
          </p:cNvPr>
          <p:cNvSpPr>
            <a:spLocks noGrp="1"/>
          </p:cNvSpPr>
          <p:nvPr/>
        </p:nvSpPr>
        <p:spPr>
          <a:xfrm>
            <a:off x="8763000" y="3371850"/>
            <a:ext cx="2571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56B64"/>
                </a:solidFill>
              </a:defRPr>
            </a:pPr>
            <a:r>
              <a:rPr sz="1650" b="0" dirty="0" err="1">
                <a:solidFill>
                  <a:srgbClr val="556B64"/>
                </a:solidFill>
              </a:rPr>
              <a:t>WasmをJavaバイトコードへ事前変換</a:t>
            </a:r>
            <a:endParaRPr sz="1650" b="0" dirty="0">
              <a:solidFill>
                <a:srgbClr val="556B64"/>
              </a:solidFill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ADA9811A-FD2C-4F88-819C-58DB1E26DD21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2857500" cy="895350"/>
          </a:xfrm>
          <a:prstGeom prst="roundRect">
            <a:avLst>
              <a:gd name="adj" fmla="val 17021"/>
            </a:avLst>
          </a:prstGeom>
          <a:solidFill>
            <a:srgbClr val="E1EE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72D5BC8-1D28-4AF7-9257-C2BC3A3A5411}"/>
              </a:ext>
            </a:extLst>
          </p:cNvPr>
          <p:cNvSpPr>
            <a:spLocks noGrp="1"/>
          </p:cNvSpPr>
          <p:nvPr/>
        </p:nvSpPr>
        <p:spPr>
          <a:xfrm>
            <a:off x="1066800" y="4962525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安全性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988DEDF-B093-4271-A1A5-8B8B6B03B82C}"/>
              </a:ext>
            </a:extLst>
          </p:cNvPr>
          <p:cNvSpPr>
            <a:spLocks noGrp="1"/>
          </p:cNvSpPr>
          <p:nvPr/>
        </p:nvSpPr>
        <p:spPr>
          <a:xfrm>
            <a:off x="1066800" y="52482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51F"/>
                </a:solidFill>
              </a:defRPr>
            </a:pPr>
            <a:r>
              <a:rPr sz="1800" b="1">
                <a:solidFill>
                  <a:srgbClr val="10251F"/>
                </a:solidFill>
              </a:rPr>
              <a:t>Rust + Wasm隔離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7FEB0CDB-CAB0-49B2-BCDE-A8B1AC41F99A}"/>
              </a:ext>
            </a:extLst>
          </p:cNvPr>
          <p:cNvSpPr>
            <a:spLocks noGrp="1"/>
          </p:cNvSpPr>
          <p:nvPr/>
        </p:nvSpPr>
        <p:spPr>
          <a:xfrm>
            <a:off x="4095750" y="4857750"/>
            <a:ext cx="2857500" cy="895350"/>
          </a:xfrm>
          <a:prstGeom prst="roundRect">
            <a:avLst>
              <a:gd name="adj" fmla="val 17021"/>
            </a:avLst>
          </a:prstGeom>
          <a:solidFill>
            <a:srgbClr val="E8F5F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DA48498-AAE4-4D45-AAF5-0B24B5159E06}"/>
              </a:ext>
            </a:extLst>
          </p:cNvPr>
          <p:cNvSpPr>
            <a:spLocks noGrp="1"/>
          </p:cNvSpPr>
          <p:nvPr/>
        </p:nvSpPr>
        <p:spPr>
          <a:xfrm>
            <a:off x="4286250" y="4962525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A7C62"/>
                </a:solidFill>
              </a:defRPr>
            </a:pPr>
            <a:r>
              <a:rPr sz="1500" b="1">
                <a:solidFill>
                  <a:srgbClr val="0A7C62"/>
                </a:solidFill>
              </a:rPr>
              <a:t>可搬性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75435F0-2F16-4A0C-9CB8-E41550457E0B}"/>
              </a:ext>
            </a:extLst>
          </p:cNvPr>
          <p:cNvSpPr>
            <a:spLocks noGrp="1"/>
          </p:cNvSpPr>
          <p:nvPr/>
        </p:nvSpPr>
        <p:spPr>
          <a:xfrm>
            <a:off x="4286250" y="52482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51F"/>
                </a:solidFill>
              </a:defRPr>
            </a:pPr>
            <a:r>
              <a:rPr sz="1800" b="1">
                <a:solidFill>
                  <a:srgbClr val="10251F"/>
                </a:solidFill>
              </a:rPr>
              <a:t>OS／CPU非依存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6AA9F83B-B33E-45C4-A08F-217185CB223E}"/>
              </a:ext>
            </a:extLst>
          </p:cNvPr>
          <p:cNvSpPr>
            <a:spLocks noGrp="1"/>
          </p:cNvSpPr>
          <p:nvPr/>
        </p:nvSpPr>
        <p:spPr>
          <a:xfrm>
            <a:off x="7315200" y="4857750"/>
            <a:ext cx="2857500" cy="895350"/>
          </a:xfrm>
          <a:prstGeom prst="roundRect">
            <a:avLst>
              <a:gd name="adj" fmla="val 17021"/>
            </a:avLst>
          </a:prstGeom>
          <a:solidFill>
            <a:srgbClr val="FFF1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537C9D2-4139-4AF9-9A92-A32D4634F973}"/>
              </a:ext>
            </a:extLst>
          </p:cNvPr>
          <p:cNvSpPr>
            <a:spLocks noGrp="1"/>
          </p:cNvSpPr>
          <p:nvPr/>
        </p:nvSpPr>
        <p:spPr>
          <a:xfrm>
            <a:off x="7505700" y="4962525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9B6500"/>
                </a:solidFill>
              </a:defRPr>
            </a:pPr>
            <a:r>
              <a:rPr sz="1500" b="1">
                <a:solidFill>
                  <a:srgbClr val="9B6500"/>
                </a:solidFill>
              </a:rPr>
              <a:t>統合性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F12CF2B-D094-49A1-B422-6DF0C84B61AB}"/>
              </a:ext>
            </a:extLst>
          </p:cNvPr>
          <p:cNvSpPr>
            <a:spLocks noGrp="1"/>
          </p:cNvSpPr>
          <p:nvPr/>
        </p:nvSpPr>
        <p:spPr>
          <a:xfrm>
            <a:off x="7505700" y="52482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51F"/>
                </a:solidFill>
              </a:defRPr>
            </a:pPr>
            <a:r>
              <a:rPr sz="1800" b="1">
                <a:solidFill>
                  <a:srgbClr val="10251F"/>
                </a:solidFill>
              </a:rPr>
              <a:t>標準ImageIO API</a:t>
            </a:r>
          </a:p>
        </p:txBody>
      </p:sp>
    </p:spTree>
    <p:extLst>
      <p:ext uri="{BB962C8B-B14F-4D97-AF65-F5344CB8AC3E}">
        <p14:creationId xmlns:p14="http://schemas.microsoft.com/office/powerpoint/2010/main" val="1527071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F5777B9-8F48-420A-A211-F0593ACD8C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A7C6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3DB2ACD-048B-44AA-BA49-CFD3B503DFA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A7C62"/>
                </a:solidFill>
              </a:defRPr>
            </a:pPr>
            <a:r>
              <a:rPr sz="1200" b="1">
                <a:solidFill>
                  <a:srgbClr val="0A7C62"/>
                </a:solidFill>
              </a:rPr>
              <a:t>ARCHITECTURE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7E1AC31-19C2-4EE2-B0E6-B970DD2CCC7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0251F"/>
                </a:solidFill>
              </a:defRPr>
            </a:pPr>
            <a:r>
              <a:rPr sz="3600" b="1">
                <a:solidFill>
                  <a:srgbClr val="10251F"/>
                </a:solidFill>
              </a:rPr>
              <a:t>入力からBufferedImageまで、5段階で完全分離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55C2502-BA7F-4517-9CF0-17E02C97B640}"/>
              </a:ext>
            </a:extLst>
          </p:cNvPr>
          <p:cNvSpPr>
            <a:spLocks noGrp="1"/>
          </p:cNvSpPr>
          <p:nvPr/>
        </p:nvSpPr>
        <p:spPr>
          <a:xfrm>
            <a:off x="628650" y="1228725"/>
            <a:ext cx="10668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56B64"/>
                </a:solidFill>
              </a:defRPr>
            </a:pPr>
            <a:r>
              <a:rPr sz="1650" b="0">
                <a:solidFill>
                  <a:srgbClr val="556B64"/>
                </a:solidFill>
              </a:rPr>
              <a:t>変換回数を抑えつつ、デコード単位のインスタンスでスレッド安全性を確保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EB5236D-F4EE-486A-AE5A-A3AD9FD8AA69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556B64"/>
                </a:solidFill>
              </a:defRPr>
            </a:pPr>
            <a:r>
              <a:rPr sz="1200" b="1">
                <a:solidFill>
                  <a:srgbClr val="556B64"/>
                </a:solidFill>
              </a:rPr>
              <a:t>06</a:t>
            </a: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DBF2B03A-EA83-40EF-8076-68B7333D674E}"/>
              </a:ext>
            </a:extLst>
          </p:cNvPr>
          <p:cNvSpPr>
            <a:spLocks noGrp="1"/>
          </p:cNvSpPr>
          <p:nvPr/>
        </p:nvSpPr>
        <p:spPr>
          <a:xfrm>
            <a:off x="2209800" y="2905125"/>
            <a:ext cx="514350" cy="323850"/>
          </a:xfrm>
          <a:prstGeom prst="rightArrow">
            <a:avLst/>
          </a:prstGeom>
          <a:solidFill>
            <a:srgbClr val="16A085"/>
          </a:solidFill>
          <a:ln w="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0D1B2355-96E3-489B-A52F-5395FCA97EF1}"/>
              </a:ext>
            </a:extLst>
          </p:cNvPr>
          <p:cNvSpPr>
            <a:spLocks noGrp="1"/>
          </p:cNvSpPr>
          <p:nvPr/>
        </p:nvSpPr>
        <p:spPr>
          <a:xfrm>
            <a:off x="4476750" y="2905125"/>
            <a:ext cx="514350" cy="323850"/>
          </a:xfrm>
          <a:prstGeom prst="rightArrow">
            <a:avLst/>
          </a:prstGeom>
          <a:solidFill>
            <a:srgbClr val="16A085"/>
          </a:solidFill>
          <a:ln w="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7B26DE68-8C54-4D7D-A552-453DE94A0361}"/>
              </a:ext>
            </a:extLst>
          </p:cNvPr>
          <p:cNvSpPr>
            <a:spLocks noGrp="1"/>
          </p:cNvSpPr>
          <p:nvPr/>
        </p:nvSpPr>
        <p:spPr>
          <a:xfrm>
            <a:off x="6743700" y="2905125"/>
            <a:ext cx="514350" cy="323850"/>
          </a:xfrm>
          <a:prstGeom prst="rightArrow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0B9C8E6C-DDBC-4626-B916-E0346750911A}"/>
              </a:ext>
            </a:extLst>
          </p:cNvPr>
          <p:cNvSpPr>
            <a:spLocks noGrp="1"/>
          </p:cNvSpPr>
          <p:nvPr/>
        </p:nvSpPr>
        <p:spPr>
          <a:xfrm>
            <a:off x="9010650" y="2905125"/>
            <a:ext cx="514350" cy="323850"/>
          </a:xfrm>
          <a:prstGeom prst="rightArrow">
            <a:avLst/>
          </a:prstGeom>
          <a:solidFill>
            <a:srgbClr val="16A085"/>
          </a:solidFill>
          <a:ln w="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B80D214-9E28-46A5-9E70-0A52AE8015EA}"/>
              </a:ext>
            </a:extLst>
          </p:cNvPr>
          <p:cNvSpPr>
            <a:spLocks noGrp="1"/>
          </p:cNvSpPr>
          <p:nvPr/>
        </p:nvSpPr>
        <p:spPr>
          <a:xfrm>
            <a:off x="514350" y="2152650"/>
            <a:ext cx="1695450" cy="2247900"/>
          </a:xfrm>
          <a:prstGeom prst="roundRect">
            <a:avLst>
              <a:gd name="adj" fmla="val 10112"/>
            </a:avLst>
          </a:prstGeom>
          <a:solidFill>
            <a:srgbClr val="E1EEFF"/>
          </a:solidFill>
          <a:ln w="9525">
            <a:solidFill>
              <a:srgbClr val="2F80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4A879291-521B-4562-BAAF-61394E210F1A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361950" cy="36195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D062B1C-BE17-4E0C-AB6D-76220C40C618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B6428F7-B5BF-4522-8EA4-9D688ADFF450}"/>
              </a:ext>
            </a:extLst>
          </p:cNvPr>
          <p:cNvSpPr>
            <a:spLocks noGrp="1"/>
          </p:cNvSpPr>
          <p:nvPr/>
        </p:nvSpPr>
        <p:spPr>
          <a:xfrm>
            <a:off x="647700" y="2838450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51F"/>
                </a:solidFill>
              </a:defRPr>
            </a:pPr>
            <a:r>
              <a:rPr sz="1500" b="1">
                <a:solidFill>
                  <a:srgbClr val="10251F"/>
                </a:solidFill>
              </a:rPr>
              <a:t>JXL byte[]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8C2A09C-A116-4599-BE19-CAB2A8AB1008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1352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codestream／</a:t>
            </a:r>
          </a:p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container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2C306E4E-DFA7-4331-B997-38FAB261A963}"/>
              </a:ext>
            </a:extLst>
          </p:cNvPr>
          <p:cNvSpPr>
            <a:spLocks noGrp="1"/>
          </p:cNvSpPr>
          <p:nvPr/>
        </p:nvSpPr>
        <p:spPr>
          <a:xfrm>
            <a:off x="2781300" y="2152650"/>
            <a:ext cx="1695450" cy="2247900"/>
          </a:xfrm>
          <a:prstGeom prst="roundRect">
            <a:avLst>
              <a:gd name="adj" fmla="val 10112"/>
            </a:avLst>
          </a:prstGeom>
          <a:solidFill>
            <a:srgbClr val="E8F5F0"/>
          </a:solidFill>
          <a:ln w="9525">
            <a:solidFill>
              <a:srgbClr val="0A7C6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7725B6FE-905F-4B95-8394-87AD4C560B57}"/>
              </a:ext>
            </a:extLst>
          </p:cNvPr>
          <p:cNvSpPr>
            <a:spLocks noGrp="1"/>
          </p:cNvSpPr>
          <p:nvPr/>
        </p:nvSpPr>
        <p:spPr>
          <a:xfrm>
            <a:off x="2952750" y="2343150"/>
            <a:ext cx="361950" cy="361950"/>
          </a:xfrm>
          <a:prstGeom prst="ellipse">
            <a:avLst/>
          </a:prstGeom>
          <a:solidFill>
            <a:srgbClr val="0A7C6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10D656F-B890-4756-A26C-07D823EC67C8}"/>
              </a:ext>
            </a:extLst>
          </p:cNvPr>
          <p:cNvSpPr>
            <a:spLocks noGrp="1"/>
          </p:cNvSpPr>
          <p:nvPr/>
        </p:nvSpPr>
        <p:spPr>
          <a:xfrm>
            <a:off x="2952750" y="23431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B8603F6-58C8-4BBB-979D-051301B4592E}"/>
              </a:ext>
            </a:extLst>
          </p:cNvPr>
          <p:cNvSpPr>
            <a:spLocks noGrp="1"/>
          </p:cNvSpPr>
          <p:nvPr/>
        </p:nvSpPr>
        <p:spPr>
          <a:xfrm>
            <a:off x="2914650" y="2838450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51F"/>
                </a:solidFill>
              </a:defRPr>
            </a:pPr>
            <a:r>
              <a:rPr sz="1500" b="1">
                <a:solidFill>
                  <a:srgbClr val="10251F"/>
                </a:solidFill>
              </a:rPr>
              <a:t>Wasm memory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76FD483-339C-4BFC-8E18-79782A571D70}"/>
              </a:ext>
            </a:extLst>
          </p:cNvPr>
          <p:cNvSpPr>
            <a:spLocks noGrp="1"/>
          </p:cNvSpPr>
          <p:nvPr/>
        </p:nvSpPr>
        <p:spPr>
          <a:xfrm>
            <a:off x="2952750" y="3390900"/>
            <a:ext cx="1352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jxl_alloc</a:t>
            </a:r>
          </a:p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入力を書き込み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CD9BA437-FC86-400E-B221-0F19648B00A0}"/>
              </a:ext>
            </a:extLst>
          </p:cNvPr>
          <p:cNvSpPr>
            <a:spLocks noGrp="1"/>
          </p:cNvSpPr>
          <p:nvPr/>
        </p:nvSpPr>
        <p:spPr>
          <a:xfrm>
            <a:off x="5048250" y="2152650"/>
            <a:ext cx="1695450" cy="2247900"/>
          </a:xfrm>
          <a:prstGeom prst="roundRect">
            <a:avLst>
              <a:gd name="adj" fmla="val 10112"/>
            </a:avLst>
          </a:prstGeom>
          <a:solidFill>
            <a:srgbClr val="FFF1CF"/>
          </a:solidFill>
          <a:ln w="9525">
            <a:solidFill>
              <a:srgbClr val="9B65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1C22843A-0B29-4B81-9188-6B3C511B7764}"/>
              </a:ext>
            </a:extLst>
          </p:cNvPr>
          <p:cNvSpPr>
            <a:spLocks noGrp="1"/>
          </p:cNvSpPr>
          <p:nvPr/>
        </p:nvSpPr>
        <p:spPr>
          <a:xfrm>
            <a:off x="5219700" y="2343150"/>
            <a:ext cx="361950" cy="361950"/>
          </a:xfrm>
          <a:prstGeom prst="ellipse">
            <a:avLst/>
          </a:prstGeom>
          <a:solidFill>
            <a:srgbClr val="9B650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1831796-1E34-4D11-B018-59735F9BEEAD}"/>
              </a:ext>
            </a:extLst>
          </p:cNvPr>
          <p:cNvSpPr>
            <a:spLocks noGrp="1"/>
          </p:cNvSpPr>
          <p:nvPr/>
        </p:nvSpPr>
        <p:spPr>
          <a:xfrm>
            <a:off x="5219700" y="23431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0F5A6B5-17E8-4036-A9A9-61DE63C40F12}"/>
              </a:ext>
            </a:extLst>
          </p:cNvPr>
          <p:cNvSpPr>
            <a:spLocks noGrp="1"/>
          </p:cNvSpPr>
          <p:nvPr/>
        </p:nvSpPr>
        <p:spPr>
          <a:xfrm>
            <a:off x="5181600" y="2838450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51F"/>
                </a:solidFill>
              </a:defRPr>
            </a:pPr>
            <a:r>
              <a:rPr sz="1500" b="1">
                <a:solidFill>
                  <a:srgbClr val="10251F"/>
                </a:solidFill>
              </a:rPr>
              <a:t>jxl_decode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16D485B-62CC-4D82-8C54-A815A48156B5}"/>
              </a:ext>
            </a:extLst>
          </p:cNvPr>
          <p:cNvSpPr>
            <a:spLocks noGrp="1"/>
          </p:cNvSpPr>
          <p:nvPr/>
        </p:nvSpPr>
        <p:spPr>
          <a:xfrm>
            <a:off x="5219700" y="3390900"/>
            <a:ext cx="1352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jxl-rsが</a:t>
            </a:r>
          </a:p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第1フレーム処理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64A0430E-66A3-4DA6-97DA-4AC79FB6BA62}"/>
              </a:ext>
            </a:extLst>
          </p:cNvPr>
          <p:cNvSpPr>
            <a:spLocks noGrp="1"/>
          </p:cNvSpPr>
          <p:nvPr/>
        </p:nvSpPr>
        <p:spPr>
          <a:xfrm>
            <a:off x="7315200" y="2152650"/>
            <a:ext cx="1695450" cy="2247900"/>
          </a:xfrm>
          <a:prstGeom prst="roundRect">
            <a:avLst>
              <a:gd name="adj" fmla="val 10112"/>
            </a:avLst>
          </a:prstGeom>
          <a:solidFill>
            <a:srgbClr val="FBE5DE"/>
          </a:solidFill>
          <a:ln w="9525">
            <a:solidFill>
              <a:srgbClr val="E76F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FD1FFC3C-0B01-4BA9-8E4B-3D52E5D536E9}"/>
              </a:ext>
            </a:extLst>
          </p:cNvPr>
          <p:cNvSpPr>
            <a:spLocks noGrp="1"/>
          </p:cNvSpPr>
          <p:nvPr/>
        </p:nvSpPr>
        <p:spPr>
          <a:xfrm>
            <a:off x="7486650" y="2343150"/>
            <a:ext cx="361950" cy="361950"/>
          </a:xfrm>
          <a:prstGeom prst="ellipse">
            <a:avLst/>
          </a:prstGeom>
          <a:solidFill>
            <a:srgbClr val="E76F5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6A1A3BF-3713-4CD9-B3D3-E6B3B394A039}"/>
              </a:ext>
            </a:extLst>
          </p:cNvPr>
          <p:cNvSpPr>
            <a:spLocks noGrp="1"/>
          </p:cNvSpPr>
          <p:nvPr/>
        </p:nvSpPr>
        <p:spPr>
          <a:xfrm>
            <a:off x="7486650" y="23431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68631CB-3ED4-4B7F-B6B9-3732EEFD9E32}"/>
              </a:ext>
            </a:extLst>
          </p:cNvPr>
          <p:cNvSpPr>
            <a:spLocks noGrp="1"/>
          </p:cNvSpPr>
          <p:nvPr/>
        </p:nvSpPr>
        <p:spPr>
          <a:xfrm>
            <a:off x="7448550" y="2838450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51F"/>
                </a:solidFill>
              </a:defRPr>
            </a:pPr>
            <a:r>
              <a:rPr sz="1500" b="1">
                <a:solidFill>
                  <a:srgbClr val="10251F"/>
                </a:solidFill>
              </a:rPr>
              <a:t>BGRA + ICC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A8156E5-3E98-4375-ABAE-0584DD987A42}"/>
              </a:ext>
            </a:extLst>
          </p:cNvPr>
          <p:cNvSpPr>
            <a:spLocks noGrp="1"/>
          </p:cNvSpPr>
          <p:nvPr/>
        </p:nvSpPr>
        <p:spPr>
          <a:xfrm>
            <a:off x="7486650" y="3390900"/>
            <a:ext cx="1352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事前乗算</a:t>
            </a:r>
          </a:p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必要時プロファイル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6979E856-9A16-456D-9CC6-8803E8528CE0}"/>
              </a:ext>
            </a:extLst>
          </p:cNvPr>
          <p:cNvSpPr>
            <a:spLocks noGrp="1"/>
          </p:cNvSpPr>
          <p:nvPr/>
        </p:nvSpPr>
        <p:spPr>
          <a:xfrm>
            <a:off x="9582150" y="2152650"/>
            <a:ext cx="1695450" cy="2247900"/>
          </a:xfrm>
          <a:prstGeom prst="roundRect">
            <a:avLst>
              <a:gd name="adj" fmla="val 10112"/>
            </a:avLst>
          </a:prstGeom>
          <a:solidFill>
            <a:srgbClr val="CDEDE4"/>
          </a:solidFill>
          <a:ln w="9525">
            <a:solidFill>
              <a:srgbClr val="063B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904CCC7A-4877-481C-8728-5AC88AAEBE7B}"/>
              </a:ext>
            </a:extLst>
          </p:cNvPr>
          <p:cNvSpPr>
            <a:spLocks noGrp="1"/>
          </p:cNvSpPr>
          <p:nvPr/>
        </p:nvSpPr>
        <p:spPr>
          <a:xfrm>
            <a:off x="9753600" y="2343150"/>
            <a:ext cx="361950" cy="361950"/>
          </a:xfrm>
          <a:prstGeom prst="ellipse">
            <a:avLst/>
          </a:prstGeom>
          <a:solidFill>
            <a:srgbClr val="063B3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95F2239-EC95-4B20-A1CC-CBDFA5A88C58}"/>
              </a:ext>
            </a:extLst>
          </p:cNvPr>
          <p:cNvSpPr>
            <a:spLocks noGrp="1"/>
          </p:cNvSpPr>
          <p:nvPr/>
        </p:nvSpPr>
        <p:spPr>
          <a:xfrm>
            <a:off x="9753600" y="23431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061B754-FD2D-42A8-89B4-F81942E43EB1}"/>
              </a:ext>
            </a:extLst>
          </p:cNvPr>
          <p:cNvSpPr>
            <a:spLocks noGrp="1"/>
          </p:cNvSpPr>
          <p:nvPr/>
        </p:nvSpPr>
        <p:spPr>
          <a:xfrm>
            <a:off x="9715500" y="2838450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51F"/>
                </a:solidFill>
              </a:defRPr>
            </a:pPr>
            <a:r>
              <a:rPr sz="1500" b="1">
                <a:solidFill>
                  <a:srgbClr val="10251F"/>
                </a:solidFill>
              </a:rPr>
              <a:t>Buffered</a:t>
            </a:r>
          </a:p>
          <a:p>
            <a:pPr algn="ctr">
              <a:defRPr sz="1500" b="1">
                <a:solidFill>
                  <a:srgbClr val="10251F"/>
                </a:solidFill>
              </a:defRPr>
            </a:pPr>
            <a:r>
              <a:rPr sz="1500" b="1">
                <a:solidFill>
                  <a:srgbClr val="10251F"/>
                </a:solidFill>
              </a:rPr>
              <a:t>Image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117D63B3-4F3B-47A9-AFEB-94C41A614CFA}"/>
              </a:ext>
            </a:extLst>
          </p:cNvPr>
          <p:cNvSpPr>
            <a:spLocks noGrp="1"/>
          </p:cNvSpPr>
          <p:nvPr/>
        </p:nvSpPr>
        <p:spPr>
          <a:xfrm>
            <a:off x="9753600" y="3390900"/>
            <a:ext cx="1352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TYPE_INT_</a:t>
            </a:r>
          </a:p>
          <a:p>
            <a:pPr algn="ctr">
              <a:defRPr sz="1425" b="0">
                <a:solidFill>
                  <a:srgbClr val="556B64"/>
                </a:solidFill>
              </a:defRPr>
            </a:pPr>
            <a:r>
              <a:rPr sz="1425" b="0">
                <a:solidFill>
                  <a:srgbClr val="556B64"/>
                </a:solidFill>
              </a:rPr>
              <a:t>ARGB_PRE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F9DDE1FB-A42D-4E11-8222-FC6F084D2F9F}"/>
              </a:ext>
            </a:extLst>
          </p:cNvPr>
          <p:cNvSpPr>
            <a:spLocks noGrp="1"/>
          </p:cNvSpPr>
          <p:nvPr/>
        </p:nvSpPr>
        <p:spPr>
          <a:xfrm>
            <a:off x="628650" y="4819649"/>
            <a:ext cx="10934700" cy="1098783"/>
          </a:xfrm>
          <a:prstGeom prst="roundRect">
            <a:avLst>
              <a:gd name="adj" fmla="val 17308"/>
            </a:avLst>
          </a:prstGeom>
          <a:solidFill>
            <a:srgbClr val="063B3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E37D3CCD-1FFA-425E-9270-B142FF1250D8}"/>
              </a:ext>
            </a:extLst>
          </p:cNvPr>
          <p:cNvSpPr>
            <a:spLocks noGrp="1"/>
          </p:cNvSpPr>
          <p:nvPr/>
        </p:nvSpPr>
        <p:spPr>
          <a:xfrm>
            <a:off x="876300" y="49625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2B84B"/>
                </a:solidFill>
              </a:defRPr>
            </a:pPr>
            <a:r>
              <a:rPr sz="1425" b="1">
                <a:solidFill>
                  <a:srgbClr val="F2B84B"/>
                </a:solidFill>
              </a:rPr>
              <a:t>設計上のポイント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73C66AE-29AD-4695-B651-EEF686223A9F}"/>
              </a:ext>
            </a:extLst>
          </p:cNvPr>
          <p:cNvSpPr>
            <a:spLocks noGrp="1"/>
          </p:cNvSpPr>
          <p:nvPr/>
        </p:nvSpPr>
        <p:spPr>
          <a:xfrm>
            <a:off x="876300" y="5366069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</a:rPr>
              <a:t>モジュール解析はJVMごとに1回。デコードごとに新規Wasmインスタンスを生成し、状態を共有しない。</a:t>
            </a:r>
          </a:p>
        </p:txBody>
      </p:sp>
    </p:spTree>
    <p:extLst>
      <p:ext uri="{BB962C8B-B14F-4D97-AF65-F5344CB8AC3E}">
        <p14:creationId xmlns:p14="http://schemas.microsoft.com/office/powerpoint/2010/main" val="1824127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12B8C02-2D32-4408-86F2-3291A05CBB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A7C6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F02DA46-2077-44CF-B0E4-0B35138C7AA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A7C62"/>
                </a:solidFill>
              </a:defRPr>
            </a:pPr>
            <a:r>
              <a:rPr sz="1200" b="1">
                <a:solidFill>
                  <a:srgbClr val="0A7C62"/>
                </a:solidFill>
              </a:rPr>
              <a:t>DEVELOPER EXPERIENCE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E6BB9F7-5FCC-4A49-8ECA-5DB82AA3B9F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0251F"/>
                </a:solidFill>
              </a:defRPr>
            </a:pPr>
            <a:r>
              <a:rPr sz="3600" b="1" dirty="0" err="1">
                <a:solidFill>
                  <a:srgbClr val="10251F"/>
                </a:solidFill>
              </a:rPr>
              <a:t>導入後のコードは、いつものImageIOのまま</a:t>
            </a:r>
            <a:endParaRPr sz="3600" b="1" dirty="0">
              <a:solidFill>
                <a:srgbClr val="10251F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4CC1995-8FB7-4DFA-941E-E5922BBFF194}"/>
              </a:ext>
            </a:extLst>
          </p:cNvPr>
          <p:cNvSpPr>
            <a:spLocks noGrp="1"/>
          </p:cNvSpPr>
          <p:nvPr/>
        </p:nvSpPr>
        <p:spPr>
          <a:xfrm>
            <a:off x="628650" y="1228725"/>
            <a:ext cx="10668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56B64"/>
                </a:solidFill>
              </a:defRPr>
            </a:pPr>
            <a:r>
              <a:rPr sz="1650" b="0">
                <a:solidFill>
                  <a:srgbClr val="556B64"/>
                </a:solidFill>
              </a:rPr>
              <a:t>Service Provider Interfaceが自動登録され、初期化処理は不要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0046D6F-9884-45B4-A4E6-A9A853775399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556B64"/>
                </a:solidFill>
              </a:defRPr>
            </a:pPr>
            <a:r>
              <a:rPr sz="1200" b="1">
                <a:solidFill>
                  <a:srgbClr val="556B64"/>
                </a:solidFill>
              </a:rPr>
              <a:t>07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E3A7518-F5E5-42F5-9309-38CB770002EB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0934700" cy="1352550"/>
          </a:xfrm>
          <a:prstGeom prst="roundRect">
            <a:avLst>
              <a:gd name="adj" fmla="val 12676"/>
            </a:avLst>
          </a:prstGeom>
          <a:solidFill>
            <a:srgbClr val="0B201B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327911B-7B02-48F7-B158-2E1EA98B4F98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819150" cy="323850"/>
          </a:xfrm>
          <a:prstGeom prst="roundRect">
            <a:avLst>
              <a:gd name="adj" fmla="val 50000"/>
            </a:avLst>
          </a:prstGeom>
          <a:solidFill>
            <a:srgbClr val="0A7C6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A7ECC88-86EC-44B1-887E-9F114A03CF93}"/>
              </a:ext>
            </a:extLst>
          </p:cNvPr>
          <p:cNvSpPr>
            <a:spLocks noGrp="1"/>
          </p:cNvSpPr>
          <p:nvPr/>
        </p:nvSpPr>
        <p:spPr>
          <a:xfrm>
            <a:off x="971550" y="2143125"/>
            <a:ext cx="628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JAVA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AA6913A-1BD6-42CC-8162-11851C009CA6}"/>
              </a:ext>
            </a:extLst>
          </p:cNvPr>
          <p:cNvSpPr>
            <a:spLocks noGrp="1"/>
          </p:cNvSpPr>
          <p:nvPr/>
        </p:nvSpPr>
        <p:spPr>
          <a:xfrm>
            <a:off x="895350" y="2552700"/>
            <a:ext cx="10267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ECFFF8"/>
                </a:solidFill>
              </a:defRPr>
            </a:pPr>
            <a:r>
              <a:rPr sz="2175" b="1">
                <a:solidFill>
                  <a:srgbClr val="ECFFF8"/>
                </a:solidFill>
              </a:rPr>
              <a:t>BufferedImage image = ImageIO.read(new File("image.jxl"));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FFA491A-C676-45FF-92B7-252512639675}"/>
              </a:ext>
            </a:extLst>
          </p:cNvPr>
          <p:cNvSpPr>
            <a:spLocks noGrp="1"/>
          </p:cNvSpPr>
          <p:nvPr/>
        </p:nvSpPr>
        <p:spPr>
          <a:xfrm>
            <a:off x="666750" y="36766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0251F"/>
                </a:solidFill>
              </a:defRPr>
            </a:pPr>
            <a:r>
              <a:rPr sz="2100" b="1">
                <a:solidFill>
                  <a:srgbClr val="10251F"/>
                </a:solidFill>
              </a:rPr>
              <a:t>配布方式は2つ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91FEC14-905C-43F0-970D-B2D9271A8A0C}"/>
              </a:ext>
            </a:extLst>
          </p:cNvPr>
          <p:cNvSpPr>
            <a:spLocks noGrp="1"/>
          </p:cNvSpPr>
          <p:nvPr/>
        </p:nvSpPr>
        <p:spPr>
          <a:xfrm>
            <a:off x="628650" y="4191000"/>
            <a:ext cx="5143500" cy="14478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9525">
            <a:solidFill>
              <a:srgbClr val="C7D7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92D4D000-621B-497B-A523-5EE4952CA246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E1EE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B4F122C-9ED6-4722-A70E-E0E02E701F52}"/>
              </a:ext>
            </a:extLst>
          </p:cNvPr>
          <p:cNvSpPr>
            <a:spLocks noGrp="1"/>
          </p:cNvSpPr>
          <p:nvPr/>
        </p:nvSpPr>
        <p:spPr>
          <a:xfrm>
            <a:off x="971550" y="4410075"/>
            <a:ext cx="1333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F80ED"/>
                </a:solidFill>
              </a:defRPr>
            </a:pPr>
            <a:r>
              <a:rPr sz="1275" b="1">
                <a:solidFill>
                  <a:srgbClr val="2F80ED"/>
                </a:solidFill>
              </a:rPr>
              <a:t>STANDARD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1AA65CD-366F-4127-BE3B-029B0FA8DD33}"/>
              </a:ext>
            </a:extLst>
          </p:cNvPr>
          <p:cNvSpPr>
            <a:spLocks noGrp="1"/>
          </p:cNvSpPr>
          <p:nvPr/>
        </p:nvSpPr>
        <p:spPr>
          <a:xfrm>
            <a:off x="876300" y="48196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0251F"/>
                </a:solidFill>
              </a:defRPr>
            </a:pPr>
            <a:r>
              <a:rPr sz="1875" b="1">
                <a:solidFill>
                  <a:srgbClr val="10251F"/>
                </a:solidFill>
              </a:rPr>
              <a:t>通常版JAR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15BCF3C-1CA5-4282-93FE-C5E8331901D8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56B64"/>
                </a:solidFill>
              </a:defRPr>
            </a:pPr>
            <a:r>
              <a:rPr sz="1500" b="0">
                <a:solidFill>
                  <a:srgbClr val="556B64"/>
                </a:solidFill>
              </a:rPr>
              <a:t>Chicory runtimeを依存に追加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11C218B1-1B0E-4467-BC2A-0B72D9F1ABA1}"/>
              </a:ext>
            </a:extLst>
          </p:cNvPr>
          <p:cNvSpPr>
            <a:spLocks noGrp="1"/>
          </p:cNvSpPr>
          <p:nvPr/>
        </p:nvSpPr>
        <p:spPr>
          <a:xfrm>
            <a:off x="6419850" y="4191000"/>
            <a:ext cx="5143500" cy="1447800"/>
          </a:xfrm>
          <a:prstGeom prst="roundRect">
            <a:avLst>
              <a:gd name="adj" fmla="val 11842"/>
            </a:avLst>
          </a:prstGeom>
          <a:solidFill>
            <a:srgbClr val="E8F5F0"/>
          </a:solidFill>
          <a:ln w="9525">
            <a:solidFill>
              <a:srgbClr val="0A7C6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3580A03A-4777-4A42-A68A-DC2964BA4632}"/>
              </a:ext>
            </a:extLst>
          </p:cNvPr>
          <p:cNvSpPr>
            <a:spLocks noGrp="1"/>
          </p:cNvSpPr>
          <p:nvPr/>
        </p:nvSpPr>
        <p:spPr>
          <a:xfrm>
            <a:off x="6667500" y="4400550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FFF1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8A27F08-E150-4043-AD15-F81640F4FAAC}"/>
              </a:ext>
            </a:extLst>
          </p:cNvPr>
          <p:cNvSpPr>
            <a:spLocks noGrp="1"/>
          </p:cNvSpPr>
          <p:nvPr/>
        </p:nvSpPr>
        <p:spPr>
          <a:xfrm>
            <a:off x="6762750" y="4410075"/>
            <a:ext cx="1905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63B33"/>
                </a:solidFill>
              </a:defRPr>
            </a:pPr>
            <a:r>
              <a:rPr sz="1275" b="1">
                <a:solidFill>
                  <a:srgbClr val="063B33"/>
                </a:solidFill>
              </a:rPr>
              <a:t>SELF-CONTAINED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3258E2B-4322-46D0-95F1-3CA47AB6809F}"/>
              </a:ext>
            </a:extLst>
          </p:cNvPr>
          <p:cNvSpPr>
            <a:spLocks noGrp="1"/>
          </p:cNvSpPr>
          <p:nvPr/>
        </p:nvSpPr>
        <p:spPr>
          <a:xfrm>
            <a:off x="6667500" y="48196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0251F"/>
                </a:solidFill>
              </a:defRPr>
            </a:pPr>
            <a:r>
              <a:rPr sz="1875" b="1">
                <a:solidFill>
                  <a:srgbClr val="10251F"/>
                </a:solidFill>
              </a:rPr>
              <a:t>fat JAR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A453D2F-C5F2-49B2-BBE9-F7F87F5A1A8D}"/>
              </a:ext>
            </a:extLst>
          </p:cNvPr>
          <p:cNvSpPr>
            <a:spLocks noGrp="1"/>
          </p:cNvSpPr>
          <p:nvPr/>
        </p:nvSpPr>
        <p:spPr>
          <a:xfrm>
            <a:off x="6667500" y="5191125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56B64"/>
                </a:solidFill>
              </a:defRPr>
            </a:pPr>
            <a:r>
              <a:rPr sz="1500" b="0" dirty="0" err="1">
                <a:solidFill>
                  <a:srgbClr val="556B64"/>
                </a:solidFill>
              </a:rPr>
              <a:t>Chicoryを内部へシェーディング。衝突を回避</a:t>
            </a:r>
            <a:endParaRPr sz="1500" b="0" dirty="0">
              <a:solidFill>
                <a:srgbClr val="556B64"/>
              </a:solidFill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80557473-3847-4A8C-A4C9-8037CD3F3B8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2000250" cy="323850"/>
          </a:xfrm>
          <a:prstGeom prst="roundRect">
            <a:avLst>
              <a:gd name="adj" fmla="val 50000"/>
            </a:avLst>
          </a:prstGeom>
          <a:solidFill>
            <a:srgbClr val="CDED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5821E0C-44B3-4C39-BF62-A244F0BC3019}"/>
              </a:ext>
            </a:extLst>
          </p:cNvPr>
          <p:cNvSpPr>
            <a:spLocks noGrp="1"/>
          </p:cNvSpPr>
          <p:nvPr/>
        </p:nvSpPr>
        <p:spPr>
          <a:xfrm>
            <a:off x="723900" y="5991225"/>
            <a:ext cx="1809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63B33"/>
                </a:solidFill>
              </a:defRPr>
            </a:pPr>
            <a:r>
              <a:rPr sz="1275" b="1">
                <a:solidFill>
                  <a:srgbClr val="063B33"/>
                </a:solidFill>
              </a:rPr>
              <a:t>Runtime: Java 11+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6971641C-2CA1-42B9-98D0-FCDCCD2DA069}"/>
              </a:ext>
            </a:extLst>
          </p:cNvPr>
          <p:cNvSpPr>
            <a:spLocks noGrp="1"/>
          </p:cNvSpPr>
          <p:nvPr/>
        </p:nvSpPr>
        <p:spPr>
          <a:xfrm>
            <a:off x="2781300" y="5981700"/>
            <a:ext cx="2343150" cy="323850"/>
          </a:xfrm>
          <a:prstGeom prst="roundRect">
            <a:avLst>
              <a:gd name="adj" fmla="val 50000"/>
            </a:avLst>
          </a:prstGeom>
          <a:solidFill>
            <a:srgbClr val="E1EE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058ADEC-8D9C-48B8-96F2-AE8262D6B1C0}"/>
              </a:ext>
            </a:extLst>
          </p:cNvPr>
          <p:cNvSpPr>
            <a:spLocks noGrp="1"/>
          </p:cNvSpPr>
          <p:nvPr/>
        </p:nvSpPr>
        <p:spPr>
          <a:xfrm>
            <a:off x="2876550" y="5991225"/>
            <a:ext cx="2152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F80ED"/>
                </a:solidFill>
              </a:defRPr>
            </a:pPr>
            <a:r>
              <a:rPr sz="1275" b="1" dirty="0">
                <a:solidFill>
                  <a:srgbClr val="2F80ED"/>
                </a:solidFill>
              </a:rPr>
              <a:t>Build: JDK 21+ </a:t>
            </a:r>
            <a:r>
              <a:rPr lang="en-US" sz="1275" b="1" dirty="0">
                <a:solidFill>
                  <a:srgbClr val="2F80ED"/>
                </a:solidFill>
              </a:rPr>
              <a:t>&amp;</a:t>
            </a:r>
            <a:r>
              <a:rPr sz="1275" b="1" dirty="0">
                <a:solidFill>
                  <a:srgbClr val="2F80ED"/>
                </a:solidFill>
              </a:rPr>
              <a:t> Rust</a:t>
            </a:r>
          </a:p>
        </p:txBody>
      </p:sp>
    </p:spTree>
    <p:extLst>
      <p:ext uri="{BB962C8B-B14F-4D97-AF65-F5344CB8AC3E}">
        <p14:creationId xmlns:p14="http://schemas.microsoft.com/office/powerpoint/2010/main" val="2140202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0DD1117-581F-4613-8E22-6B4E27D2BB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A7C6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B9125E8-C82C-47AF-AC3E-971B591CB7D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A7C62"/>
                </a:solidFill>
              </a:defRPr>
            </a:pPr>
            <a:r>
              <a:rPr sz="1200" b="1">
                <a:solidFill>
                  <a:srgbClr val="0A7C62"/>
                </a:solidFill>
              </a:rPr>
              <a:t>QUALITY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7B7598DA-C0BA-4B22-B612-5411966EC96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0251F"/>
                </a:solidFill>
              </a:defRPr>
            </a:pPr>
            <a:r>
              <a:rPr sz="3600" b="1">
                <a:solidFill>
                  <a:srgbClr val="10251F"/>
                </a:solidFill>
              </a:rPr>
              <a:t>BGRAをそのままARGB intへ――変換コストを最小化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3376D96-26F3-401A-A97A-DD98F409F587}"/>
              </a:ext>
            </a:extLst>
          </p:cNvPr>
          <p:cNvSpPr>
            <a:spLocks noGrp="1"/>
          </p:cNvSpPr>
          <p:nvPr/>
        </p:nvSpPr>
        <p:spPr>
          <a:xfrm>
            <a:off x="628650" y="1228725"/>
            <a:ext cx="10668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56B64"/>
                </a:solidFill>
              </a:defRPr>
            </a:pPr>
            <a:r>
              <a:rPr sz="1650" b="0">
                <a:solidFill>
                  <a:srgbClr val="556B64"/>
                </a:solidFill>
              </a:rPr>
              <a:t>リトルエンディアンのメモリ配置を利用し、ピクセル処理をコピー中心にする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F29F3F5-9204-47B4-B49E-7BD791C40881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556B64"/>
                </a:solidFill>
              </a:defRPr>
            </a:pPr>
            <a:r>
              <a:rPr sz="1200" b="1">
                <a:solidFill>
                  <a:srgbClr val="556B64"/>
                </a:solidFill>
              </a:rPr>
              <a:t>08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A2FDB8-0AE5-4F4E-8F6B-18EF670235E4}"/>
              </a:ext>
            </a:extLst>
          </p:cNvPr>
          <p:cNvSpPr>
            <a:spLocks noGrp="1"/>
          </p:cNvSpPr>
          <p:nvPr/>
        </p:nvSpPr>
        <p:spPr>
          <a:xfrm>
            <a:off x="762000" y="19621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0251F"/>
                </a:solidFill>
              </a:defRPr>
            </a:pPr>
            <a:r>
              <a:rPr sz="1950" b="1">
                <a:solidFill>
                  <a:srgbClr val="10251F"/>
                </a:solidFill>
              </a:rPr>
              <a:t>Wasm出力：4 bytes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32A322A-762E-4A84-80DC-EA0332EDD61E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876300" cy="895350"/>
          </a:xfrm>
          <a:prstGeom prst="roundRect">
            <a:avLst>
              <a:gd name="adj" fmla="val 15217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7EA58F-5D7A-4398-AA9E-18ED6A0B62D0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876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95E1BB4-F6C7-41CF-A0C3-125AD4748AC0}"/>
              </a:ext>
            </a:extLst>
          </p:cNvPr>
          <p:cNvSpPr>
            <a:spLocks noGrp="1"/>
          </p:cNvSpPr>
          <p:nvPr/>
        </p:nvSpPr>
        <p:spPr>
          <a:xfrm>
            <a:off x="1771650" y="2552700"/>
            <a:ext cx="876300" cy="895350"/>
          </a:xfrm>
          <a:prstGeom prst="roundRect">
            <a:avLst>
              <a:gd name="adj" fmla="val 15217"/>
            </a:avLst>
          </a:prstGeom>
          <a:solidFill>
            <a:srgbClr val="16A0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7D4A878-3E71-4B22-A694-17033D6FEBB0}"/>
              </a:ext>
            </a:extLst>
          </p:cNvPr>
          <p:cNvSpPr>
            <a:spLocks noGrp="1"/>
          </p:cNvSpPr>
          <p:nvPr/>
        </p:nvSpPr>
        <p:spPr>
          <a:xfrm>
            <a:off x="1771650" y="2552700"/>
            <a:ext cx="876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FB27A9B-DA8B-4502-9A0A-C7618AE4A9A5}"/>
              </a:ext>
            </a:extLst>
          </p:cNvPr>
          <p:cNvSpPr>
            <a:spLocks noGrp="1"/>
          </p:cNvSpPr>
          <p:nvPr/>
        </p:nvSpPr>
        <p:spPr>
          <a:xfrm>
            <a:off x="2762250" y="2552700"/>
            <a:ext cx="876300" cy="895350"/>
          </a:xfrm>
          <a:prstGeom prst="roundRect">
            <a:avLst>
              <a:gd name="adj" fmla="val 15217"/>
            </a:avLst>
          </a:prstGeom>
          <a:solidFill>
            <a:srgbClr val="E76F5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FC530C1-A548-47B2-ADF2-100160A28FE0}"/>
              </a:ext>
            </a:extLst>
          </p:cNvPr>
          <p:cNvSpPr>
            <a:spLocks noGrp="1"/>
          </p:cNvSpPr>
          <p:nvPr/>
        </p:nvSpPr>
        <p:spPr>
          <a:xfrm>
            <a:off x="2762250" y="2552700"/>
            <a:ext cx="876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6B5C896-E138-4EC0-A70C-0B57C8FF756F}"/>
              </a:ext>
            </a:extLst>
          </p:cNvPr>
          <p:cNvSpPr>
            <a:spLocks noGrp="1"/>
          </p:cNvSpPr>
          <p:nvPr/>
        </p:nvSpPr>
        <p:spPr>
          <a:xfrm>
            <a:off x="3752850" y="2552700"/>
            <a:ext cx="876300" cy="895350"/>
          </a:xfrm>
          <a:prstGeom prst="roundRect">
            <a:avLst>
              <a:gd name="adj" fmla="val 15217"/>
            </a:avLst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9363118-3A0D-4AB3-BEBD-A802B8581430}"/>
              </a:ext>
            </a:extLst>
          </p:cNvPr>
          <p:cNvSpPr>
            <a:spLocks noGrp="1"/>
          </p:cNvSpPr>
          <p:nvPr/>
        </p:nvSpPr>
        <p:spPr>
          <a:xfrm>
            <a:off x="3752850" y="2552700"/>
            <a:ext cx="876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A5DEB927-8B3C-40E0-BC45-EE1E7FD372A1}"/>
              </a:ext>
            </a:extLst>
          </p:cNvPr>
          <p:cNvSpPr>
            <a:spLocks noGrp="1"/>
          </p:cNvSpPr>
          <p:nvPr/>
        </p:nvSpPr>
        <p:spPr>
          <a:xfrm>
            <a:off x="4953000" y="2790825"/>
            <a:ext cx="952500" cy="400050"/>
          </a:xfrm>
          <a:prstGeom prst="rightArrow">
            <a:avLst/>
          </a:prstGeom>
          <a:solidFill>
            <a:srgbClr val="C7D7D1"/>
          </a:solidFill>
          <a:ln w="0">
            <a:solidFill>
              <a:srgbClr val="C7D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630EDAF6-2148-452C-91B1-0D40433A254A}"/>
              </a:ext>
            </a:extLst>
          </p:cNvPr>
          <p:cNvSpPr>
            <a:spLocks noGrp="1"/>
          </p:cNvSpPr>
          <p:nvPr/>
        </p:nvSpPr>
        <p:spPr>
          <a:xfrm>
            <a:off x="6210300" y="2324100"/>
            <a:ext cx="4629150" cy="1471918"/>
          </a:xfrm>
          <a:prstGeom prst="roundRect">
            <a:avLst>
              <a:gd name="adj" fmla="val 14085"/>
            </a:avLst>
          </a:prstGeom>
          <a:solidFill>
            <a:srgbClr val="063B3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88026CD-743C-4C6D-B011-5E84756FAC1F}"/>
              </a:ext>
            </a:extLst>
          </p:cNvPr>
          <p:cNvSpPr>
            <a:spLocks noGrp="1"/>
          </p:cNvSpPr>
          <p:nvPr/>
        </p:nvSpPr>
        <p:spPr>
          <a:xfrm>
            <a:off x="6457950" y="2466975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2B84B"/>
                </a:solidFill>
              </a:defRPr>
            </a:pPr>
            <a:r>
              <a:rPr sz="1350" b="1">
                <a:solidFill>
                  <a:srgbClr val="F2B84B"/>
                </a:solidFill>
              </a:rPr>
              <a:t>Java int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AF22AA2-1CD3-4019-A64F-DA6E4E03CBB6}"/>
              </a:ext>
            </a:extLst>
          </p:cNvPr>
          <p:cNvSpPr>
            <a:spLocks noGrp="1"/>
          </p:cNvSpPr>
          <p:nvPr/>
        </p:nvSpPr>
        <p:spPr>
          <a:xfrm>
            <a:off x="6457950" y="278130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0xAARRGGBB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B6FF004-CD66-477F-BB73-B3E135DA0441}"/>
              </a:ext>
            </a:extLst>
          </p:cNvPr>
          <p:cNvSpPr>
            <a:spLocks noGrp="1"/>
          </p:cNvSpPr>
          <p:nvPr/>
        </p:nvSpPr>
        <p:spPr>
          <a:xfrm>
            <a:off x="6457950" y="33337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BFE8DC"/>
                </a:solidFill>
              </a:defRPr>
            </a:pPr>
            <a:r>
              <a:rPr sz="1425" b="1">
                <a:solidFill>
                  <a:srgbClr val="BFE8DC"/>
                </a:solidFill>
              </a:rPr>
              <a:t>TYPE_INT_ARGB_PRE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17CFC658-21EB-48A8-A245-FEC8E4FACF7C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3143250" cy="1181100"/>
          </a:xfrm>
          <a:prstGeom prst="roundRect">
            <a:avLst>
              <a:gd name="adj" fmla="val 14516"/>
            </a:avLst>
          </a:prstGeom>
          <a:solidFill>
            <a:srgbClr val="E8F5F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7B4348B-84D1-44EA-A4CA-499A9DC01789}"/>
              </a:ext>
            </a:extLst>
          </p:cNvPr>
          <p:cNvSpPr>
            <a:spLocks noGrp="1"/>
          </p:cNvSpPr>
          <p:nvPr/>
        </p:nvSpPr>
        <p:spPr>
          <a:xfrm>
            <a:off x="990600" y="4562475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0A7C62"/>
                </a:solidFill>
              </a:defRPr>
            </a:pPr>
            <a:r>
              <a:rPr sz="1725" b="1">
                <a:solidFill>
                  <a:srgbClr val="0A7C62"/>
                </a:solidFill>
              </a:rPr>
              <a:t>事前乗算アルファ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7EE9B88-ABF5-491E-908B-9F3AB245E126}"/>
              </a:ext>
            </a:extLst>
          </p:cNvPr>
          <p:cNvSpPr>
            <a:spLocks noGrp="1"/>
          </p:cNvSpPr>
          <p:nvPr/>
        </p:nvSpPr>
        <p:spPr>
          <a:xfrm>
            <a:off x="990600" y="4981575"/>
            <a:ext cx="2724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56B64"/>
                </a:solidFill>
              </a:defRPr>
            </a:pPr>
            <a:r>
              <a:rPr sz="1500" b="0">
                <a:solidFill>
                  <a:srgbClr val="556B64"/>
                </a:solidFill>
              </a:rPr>
              <a:t>Java 2Dで高速に合成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C082E0BF-45BD-4196-94D9-81B02704A9CB}"/>
              </a:ext>
            </a:extLst>
          </p:cNvPr>
          <p:cNvSpPr>
            <a:spLocks noGrp="1"/>
          </p:cNvSpPr>
          <p:nvPr/>
        </p:nvSpPr>
        <p:spPr>
          <a:xfrm>
            <a:off x="4286250" y="4381500"/>
            <a:ext cx="3143250" cy="1181100"/>
          </a:xfrm>
          <a:prstGeom prst="roundRect">
            <a:avLst>
              <a:gd name="adj" fmla="val 14516"/>
            </a:avLst>
          </a:prstGeom>
          <a:solidFill>
            <a:srgbClr val="E1EE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749271D-6B7B-4AB8-9718-1EFD28463F6C}"/>
              </a:ext>
            </a:extLst>
          </p:cNvPr>
          <p:cNvSpPr>
            <a:spLocks noGrp="1"/>
          </p:cNvSpPr>
          <p:nvPr/>
        </p:nvSpPr>
        <p:spPr>
          <a:xfrm>
            <a:off x="4495800" y="4562475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2F80ED"/>
                </a:solidFill>
              </a:defRPr>
            </a:pPr>
            <a:r>
              <a:rPr sz="1725" b="1">
                <a:solidFill>
                  <a:srgbClr val="2F80ED"/>
                </a:solidFill>
              </a:rPr>
              <a:t>float精度で乗算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9CBAA59-B7DC-49C4-831D-F1ED96236026}"/>
              </a:ext>
            </a:extLst>
          </p:cNvPr>
          <p:cNvSpPr>
            <a:spLocks noGrp="1"/>
          </p:cNvSpPr>
          <p:nvPr/>
        </p:nvSpPr>
        <p:spPr>
          <a:xfrm>
            <a:off x="4495800" y="4981575"/>
            <a:ext cx="2724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56B64"/>
                </a:solidFill>
              </a:defRPr>
            </a:pPr>
            <a:r>
              <a:rPr sz="1500" b="0">
                <a:solidFill>
                  <a:srgbClr val="556B64"/>
                </a:solidFill>
              </a:rPr>
              <a:t>8bit変換パスを削減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11C9D2A1-9F11-484D-A83D-632D159F62C2}"/>
              </a:ext>
            </a:extLst>
          </p:cNvPr>
          <p:cNvSpPr>
            <a:spLocks noGrp="1"/>
          </p:cNvSpPr>
          <p:nvPr/>
        </p:nvSpPr>
        <p:spPr>
          <a:xfrm>
            <a:off x="7791450" y="4381500"/>
            <a:ext cx="3143250" cy="1181100"/>
          </a:xfrm>
          <a:prstGeom prst="roundRect">
            <a:avLst>
              <a:gd name="adj" fmla="val 14516"/>
            </a:avLst>
          </a:prstGeom>
          <a:solidFill>
            <a:srgbClr val="FFF1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CC7754D-7F42-4604-8951-7F8F455FA85C}"/>
              </a:ext>
            </a:extLst>
          </p:cNvPr>
          <p:cNvSpPr>
            <a:spLocks noGrp="1"/>
          </p:cNvSpPr>
          <p:nvPr/>
        </p:nvSpPr>
        <p:spPr>
          <a:xfrm>
            <a:off x="8001000" y="4562475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9B6500"/>
                </a:solidFill>
              </a:defRPr>
            </a:pPr>
            <a:r>
              <a:rPr sz="1725" b="1">
                <a:solidFill>
                  <a:srgbClr val="9B6500"/>
                </a:solidFill>
              </a:rPr>
              <a:t>メモリコピー中心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A6FFE0C-B360-4C7B-853F-4B00CECF183F}"/>
              </a:ext>
            </a:extLst>
          </p:cNvPr>
          <p:cNvSpPr>
            <a:spLocks noGrp="1"/>
          </p:cNvSpPr>
          <p:nvPr/>
        </p:nvSpPr>
        <p:spPr>
          <a:xfrm>
            <a:off x="8001000" y="4981575"/>
            <a:ext cx="2724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56B64"/>
                </a:solidFill>
              </a:defRPr>
            </a:pPr>
            <a:r>
              <a:rPr sz="1500" b="0">
                <a:solidFill>
                  <a:srgbClr val="556B64"/>
                </a:solidFill>
              </a:rPr>
              <a:t>色順序変換を回避</a:t>
            </a:r>
          </a:p>
        </p:txBody>
      </p:sp>
    </p:spTree>
    <p:extLst>
      <p:ext uri="{BB962C8B-B14F-4D97-AF65-F5344CB8AC3E}">
        <p14:creationId xmlns:p14="http://schemas.microsoft.com/office/powerpoint/2010/main" val="676445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6F60B1A-7E04-47E3-90C8-992698AFCF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A7C6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3FCF80F-5C99-42E2-836B-89BA72342AA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A7C62"/>
                </a:solidFill>
              </a:defRPr>
            </a:pPr>
            <a:r>
              <a:rPr sz="1200" b="1">
                <a:solidFill>
                  <a:srgbClr val="0A7C62"/>
                </a:solidFill>
              </a:rPr>
              <a:t>COLOR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EA078DA-0FBF-4536-9752-B5A07EAB0AC0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0251F"/>
                </a:solidFill>
              </a:defRPr>
            </a:pPr>
            <a:r>
              <a:rPr sz="3600" b="1">
                <a:solidFill>
                  <a:srgbClr val="10251F"/>
                </a:solidFill>
              </a:rPr>
              <a:t>広色域・ICC画像も、Java側でsRGBへ着地させる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AF2290D-BECE-4493-83F9-8E3E02A64581}"/>
              </a:ext>
            </a:extLst>
          </p:cNvPr>
          <p:cNvSpPr>
            <a:spLocks noGrp="1"/>
          </p:cNvSpPr>
          <p:nvPr/>
        </p:nvSpPr>
        <p:spPr>
          <a:xfrm>
            <a:off x="628650" y="1228725"/>
            <a:ext cx="10668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56B64"/>
                </a:solidFill>
              </a:defRPr>
            </a:pPr>
            <a:r>
              <a:rPr sz="1650" b="0">
                <a:solidFill>
                  <a:srgbClr val="556B64"/>
                </a:solidFill>
              </a:rPr>
              <a:t>“デコードできる”だけでなく、表示結果の一貫性まで扱う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A5105F5-8028-46D3-9E08-270AA96E4239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556B64"/>
                </a:solidFill>
              </a:defRPr>
            </a:pPr>
            <a:r>
              <a:rPr sz="1200" b="1">
                <a:solidFill>
                  <a:srgbClr val="556B64"/>
                </a:solidFill>
              </a:rPr>
              <a:t>09</a:t>
            </a: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7E0B0D1B-4DC7-467B-837B-3C4085ACB552}"/>
              </a:ext>
            </a:extLst>
          </p:cNvPr>
          <p:cNvSpPr>
            <a:spLocks noGrp="1"/>
          </p:cNvSpPr>
          <p:nvPr/>
        </p:nvSpPr>
        <p:spPr>
          <a:xfrm>
            <a:off x="3219450" y="2990850"/>
            <a:ext cx="762000" cy="381000"/>
          </a:xfrm>
          <a:prstGeom prst="rightArrow">
            <a:avLst/>
          </a:prstGeom>
          <a:solidFill>
            <a:srgbClr val="C7D7D1"/>
          </a:solidFill>
          <a:ln w="0">
            <a:solidFill>
              <a:srgbClr val="C7D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D7BF5930-0542-43AB-8946-4D061C418AB8}"/>
              </a:ext>
            </a:extLst>
          </p:cNvPr>
          <p:cNvSpPr>
            <a:spLocks noGrp="1"/>
          </p:cNvSpPr>
          <p:nvPr/>
        </p:nvSpPr>
        <p:spPr>
          <a:xfrm>
            <a:off x="7734300" y="2990850"/>
            <a:ext cx="762000" cy="381000"/>
          </a:xfrm>
          <a:prstGeom prst="rightArrow">
            <a:avLst/>
          </a:prstGeom>
          <a:solidFill>
            <a:srgbClr val="C7D7D1"/>
          </a:solidFill>
          <a:ln w="0">
            <a:solidFill>
              <a:srgbClr val="C7D7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1DAD4B8-C589-4F47-A66F-9826EB49BBDD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2552700" cy="2419350"/>
          </a:xfrm>
          <a:prstGeom prst="roundRect">
            <a:avLst>
              <a:gd name="adj" fmla="val 7087"/>
            </a:avLst>
          </a:prstGeom>
          <a:solidFill>
            <a:srgbClr val="FFFFFF"/>
          </a:solidFill>
          <a:ln w="9525">
            <a:solidFill>
              <a:srgbClr val="C7D7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FC72B6E-C6DB-4DC1-AFE3-111ADC82C9FA}"/>
              </a:ext>
            </a:extLst>
          </p:cNvPr>
          <p:cNvSpPr>
            <a:spLocks noGrp="1"/>
          </p:cNvSpPr>
          <p:nvPr/>
        </p:nvSpPr>
        <p:spPr>
          <a:xfrm>
            <a:off x="895350" y="2371725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E1EE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5F14702-CE95-4A58-92E6-C3EC37B1CE24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952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F80ED"/>
                </a:solidFill>
              </a:defRPr>
            </a:pPr>
            <a:r>
              <a:rPr sz="1275" b="1">
                <a:solidFill>
                  <a:srgbClr val="2F80ED"/>
                </a:solidFill>
              </a:rPr>
              <a:t>INPUT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8452DE6-2777-4995-BB23-D09BACF327DE}"/>
              </a:ext>
            </a:extLst>
          </p:cNvPr>
          <p:cNvSpPr>
            <a:spLocks noGrp="1"/>
          </p:cNvSpPr>
          <p:nvPr/>
        </p:nvSpPr>
        <p:spPr>
          <a:xfrm>
            <a:off x="895350" y="28765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0251F"/>
                </a:solidFill>
              </a:defRPr>
            </a:pPr>
            <a:r>
              <a:rPr sz="2100" b="1">
                <a:solidFill>
                  <a:srgbClr val="10251F"/>
                </a:solidFill>
              </a:rPr>
              <a:t>jxl-rs出力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AC27375-D091-4498-8320-5D0A380A7D0A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556B64"/>
                </a:solidFill>
              </a:defRPr>
            </a:pPr>
            <a:r>
              <a:rPr sz="1725" b="0">
                <a:solidFill>
                  <a:srgbClr val="556B64"/>
                </a:solidFill>
              </a:rPr>
              <a:t>BGRA pixels</a:t>
            </a:r>
          </a:p>
          <a:p>
            <a:pPr algn="l">
              <a:defRPr sz="1725" b="0">
                <a:solidFill>
                  <a:srgbClr val="556B64"/>
                </a:solidFill>
              </a:defRPr>
            </a:pPr>
            <a:r>
              <a:rPr sz="1725" b="0">
                <a:solidFill>
                  <a:srgbClr val="556B64"/>
                </a:solidFill>
              </a:rPr>
              <a:t>+ ICC profile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69647E52-B1E8-49FC-8769-02D1FCF98048}"/>
              </a:ext>
            </a:extLst>
          </p:cNvPr>
          <p:cNvSpPr>
            <a:spLocks noGrp="1"/>
          </p:cNvSpPr>
          <p:nvPr/>
        </p:nvSpPr>
        <p:spPr>
          <a:xfrm>
            <a:off x="3981450" y="2143125"/>
            <a:ext cx="3752850" cy="2419350"/>
          </a:xfrm>
          <a:prstGeom prst="roundRect">
            <a:avLst>
              <a:gd name="adj" fmla="val 7087"/>
            </a:avLst>
          </a:prstGeom>
          <a:solidFill>
            <a:srgbClr val="E8F5F0"/>
          </a:solidFill>
          <a:ln w="9525">
            <a:solidFill>
              <a:srgbClr val="0A7C6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0AAF23F1-3B6C-42A4-84C7-CDC0B6FF9A36}"/>
              </a:ext>
            </a:extLst>
          </p:cNvPr>
          <p:cNvSpPr>
            <a:spLocks noGrp="1"/>
          </p:cNvSpPr>
          <p:nvPr/>
        </p:nvSpPr>
        <p:spPr>
          <a:xfrm>
            <a:off x="4248150" y="2371725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6F6CB12-9D87-488B-AE4A-5AA25CB7BFCD}"/>
              </a:ext>
            </a:extLst>
          </p:cNvPr>
          <p:cNvSpPr>
            <a:spLocks noGrp="1"/>
          </p:cNvSpPr>
          <p:nvPr/>
        </p:nvSpPr>
        <p:spPr>
          <a:xfrm>
            <a:off x="4343400" y="2381250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A7C62"/>
                </a:solidFill>
              </a:defRPr>
            </a:pPr>
            <a:r>
              <a:rPr sz="1275" b="1">
                <a:solidFill>
                  <a:srgbClr val="0A7C62"/>
                </a:solidFill>
              </a:rPr>
              <a:t>CONVERT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5D5AC90-8B73-48B9-B22E-E504DCF0FBD3}"/>
              </a:ext>
            </a:extLst>
          </p:cNvPr>
          <p:cNvSpPr>
            <a:spLocks noGrp="1"/>
          </p:cNvSpPr>
          <p:nvPr/>
        </p:nvSpPr>
        <p:spPr>
          <a:xfrm>
            <a:off x="4248150" y="287655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0251F"/>
                </a:solidFill>
              </a:defRPr>
            </a:pPr>
            <a:r>
              <a:rPr sz="2100" b="1">
                <a:solidFill>
                  <a:srgbClr val="10251F"/>
                </a:solidFill>
              </a:rPr>
              <a:t>ICC_ColorSpace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090D8B7-60A3-4349-8DAE-33E83D90C745}"/>
              </a:ext>
            </a:extLst>
          </p:cNvPr>
          <p:cNvSpPr>
            <a:spLocks noGrp="1"/>
          </p:cNvSpPr>
          <p:nvPr/>
        </p:nvSpPr>
        <p:spPr>
          <a:xfrm>
            <a:off x="4248150" y="327660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0251F"/>
                </a:solidFill>
              </a:defRPr>
            </a:pPr>
            <a:r>
              <a:rPr sz="1875" b="1">
                <a:solidFill>
                  <a:srgbClr val="10251F"/>
                </a:solidFill>
              </a:rPr>
              <a:t>+ ColorConvertOp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FF115B8-A417-4FAD-996D-DBD25D5D8019}"/>
              </a:ext>
            </a:extLst>
          </p:cNvPr>
          <p:cNvSpPr>
            <a:spLocks noGrp="1"/>
          </p:cNvSpPr>
          <p:nvPr/>
        </p:nvSpPr>
        <p:spPr>
          <a:xfrm>
            <a:off x="4248150" y="3838575"/>
            <a:ext cx="3219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A7C62"/>
                </a:solidFill>
              </a:defRPr>
            </a:pPr>
            <a:r>
              <a:rPr sz="1500" b="1">
                <a:solidFill>
                  <a:srgbClr val="0A7C62"/>
                </a:solidFill>
              </a:rPr>
              <a:t>非sRGB時のみ変換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C01374DC-878E-406B-B5F6-F1F4DEB06D50}"/>
              </a:ext>
            </a:extLst>
          </p:cNvPr>
          <p:cNvSpPr>
            <a:spLocks noGrp="1"/>
          </p:cNvSpPr>
          <p:nvPr/>
        </p:nvSpPr>
        <p:spPr>
          <a:xfrm>
            <a:off x="8496300" y="2143125"/>
            <a:ext cx="3028950" cy="2419350"/>
          </a:xfrm>
          <a:prstGeom prst="roundRect">
            <a:avLst>
              <a:gd name="adj" fmla="val 7087"/>
            </a:avLst>
          </a:prstGeom>
          <a:solidFill>
            <a:srgbClr val="FFFFFF"/>
          </a:solidFill>
          <a:ln w="9525">
            <a:solidFill>
              <a:srgbClr val="C7D7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6DB57053-77E8-451F-AE62-FF2B348D58D5}"/>
              </a:ext>
            </a:extLst>
          </p:cNvPr>
          <p:cNvSpPr>
            <a:spLocks noGrp="1"/>
          </p:cNvSpPr>
          <p:nvPr/>
        </p:nvSpPr>
        <p:spPr>
          <a:xfrm>
            <a:off x="8763000" y="2371725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FFF1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08272CB-3BA2-48C4-B82C-9FC1676E7363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10668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63B33"/>
                </a:solidFill>
              </a:defRPr>
            </a:pPr>
            <a:r>
              <a:rPr sz="1275" b="1">
                <a:solidFill>
                  <a:srgbClr val="063B33"/>
                </a:solidFill>
              </a:rPr>
              <a:t>OUTPUT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2E2DB0D-9F01-4FAE-A7FB-9A5B22955600}"/>
              </a:ext>
            </a:extLst>
          </p:cNvPr>
          <p:cNvSpPr>
            <a:spLocks noGrp="1"/>
          </p:cNvSpPr>
          <p:nvPr/>
        </p:nvSpPr>
        <p:spPr>
          <a:xfrm>
            <a:off x="8763000" y="288607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0251F"/>
                </a:solidFill>
              </a:defRPr>
            </a:pPr>
            <a:r>
              <a:rPr sz="2550" b="1">
                <a:solidFill>
                  <a:srgbClr val="10251F"/>
                </a:solidFill>
              </a:rPr>
              <a:t>sRGB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DB3B462-BFBD-4CEC-A6A4-CD73A431B99B}"/>
              </a:ext>
            </a:extLst>
          </p:cNvPr>
          <p:cNvSpPr>
            <a:spLocks noGrp="1"/>
          </p:cNvSpPr>
          <p:nvPr/>
        </p:nvSpPr>
        <p:spPr>
          <a:xfrm>
            <a:off x="8763000" y="3381375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556B64"/>
                </a:solidFill>
              </a:defRPr>
            </a:pPr>
            <a:r>
              <a:rPr sz="1800" b="0">
                <a:solidFill>
                  <a:srgbClr val="556B64"/>
                </a:solidFill>
              </a:rPr>
              <a:t>BufferedImage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0D10F90-374C-44E8-BD51-87214F0623FB}"/>
              </a:ext>
            </a:extLst>
          </p:cNvPr>
          <p:cNvSpPr>
            <a:spLocks noGrp="1"/>
          </p:cNvSpPr>
          <p:nvPr/>
        </p:nvSpPr>
        <p:spPr>
          <a:xfrm>
            <a:off x="8763000" y="38576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A7C62"/>
                </a:solidFill>
              </a:defRPr>
            </a:pPr>
            <a:r>
              <a:rPr sz="1425" b="1">
                <a:solidFill>
                  <a:srgbClr val="0A7C62"/>
                </a:solidFill>
              </a:rPr>
              <a:t>表示系へそのまま渡せる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39D9811-2485-4252-81CF-656B17B58206}"/>
              </a:ext>
            </a:extLst>
          </p:cNvPr>
          <p:cNvSpPr>
            <a:spLocks noGrp="1"/>
          </p:cNvSpPr>
          <p:nvPr/>
        </p:nvSpPr>
        <p:spPr>
          <a:xfrm>
            <a:off x="666750" y="5010149"/>
            <a:ext cx="10858500" cy="990601"/>
          </a:xfrm>
          <a:prstGeom prst="roundRect">
            <a:avLst>
              <a:gd name="adj" fmla="val 17391"/>
            </a:avLst>
          </a:prstGeom>
          <a:solidFill>
            <a:srgbClr val="FBE5DE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E5058E4-3027-4F39-A7ED-34865363A6E7}"/>
              </a:ext>
            </a:extLst>
          </p:cNvPr>
          <p:cNvSpPr>
            <a:spLocks noGrp="1"/>
          </p:cNvSpPr>
          <p:nvPr/>
        </p:nvSpPr>
        <p:spPr>
          <a:xfrm>
            <a:off x="914399" y="5143500"/>
            <a:ext cx="291936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E76F51"/>
                </a:solidFill>
              </a:defRPr>
            </a:pPr>
            <a:r>
              <a:rPr sz="1500" b="1" dirty="0" err="1">
                <a:solidFill>
                  <a:srgbClr val="E76F51"/>
                </a:solidFill>
              </a:rPr>
              <a:t>壊れたプロファイル</a:t>
            </a:r>
            <a:r>
              <a:rPr lang="ja-JP" altLang="en-US" sz="1500" b="1" dirty="0">
                <a:solidFill>
                  <a:srgbClr val="E76F51"/>
                </a:solidFill>
              </a:rPr>
              <a:t>の場合</a:t>
            </a:r>
            <a:endParaRPr sz="1500" b="1" dirty="0">
              <a:solidFill>
                <a:srgbClr val="E76F5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B34CE86-D6D9-47DC-83F8-E1E5CE2F0FB2}"/>
              </a:ext>
            </a:extLst>
          </p:cNvPr>
          <p:cNvSpPr>
            <a:spLocks noGrp="1"/>
          </p:cNvSpPr>
          <p:nvPr/>
        </p:nvSpPr>
        <p:spPr>
          <a:xfrm>
            <a:off x="914399" y="5410200"/>
            <a:ext cx="781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 dirty="0" err="1">
                <a:solidFill>
                  <a:srgbClr val="10251F"/>
                </a:solidFill>
              </a:rPr>
              <a:t>変換をスキップしてデコードを継続</a:t>
            </a:r>
            <a:r>
              <a:rPr lang="ja-JP" altLang="en-US" sz="1725" b="1" dirty="0">
                <a:solidFill>
                  <a:srgbClr val="10251F"/>
                </a:solidFill>
              </a:rPr>
              <a:t> </a:t>
            </a:r>
            <a:r>
              <a:rPr lang="en-US" altLang="ja-JP" sz="1725" b="1" dirty="0">
                <a:solidFill>
                  <a:srgbClr val="10251F"/>
                </a:solidFill>
              </a:rPr>
              <a:t>&amp;</a:t>
            </a:r>
            <a:r>
              <a:rPr lang="ja-JP" altLang="en-US" sz="1725" b="1" dirty="0">
                <a:solidFill>
                  <a:srgbClr val="10251F"/>
                </a:solidFill>
              </a:rPr>
              <a:t> </a:t>
            </a:r>
            <a:r>
              <a:rPr sz="1725" b="1" dirty="0" err="1">
                <a:solidFill>
                  <a:srgbClr val="10251F"/>
                </a:solidFill>
              </a:rPr>
              <a:t>画像全体の失敗を</a:t>
            </a:r>
            <a:r>
              <a:rPr lang="ja-JP" altLang="en-US" sz="1725" b="1" dirty="0">
                <a:solidFill>
                  <a:srgbClr val="10251F"/>
                </a:solidFill>
              </a:rPr>
              <a:t>回避</a:t>
            </a:r>
            <a:endParaRPr sz="1725" b="1" dirty="0">
              <a:solidFill>
                <a:srgbClr val="1025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507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5ECDC0E-4392-4611-A693-82FEEF838C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A7C6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D6DD6FE-86B6-44DE-A2FB-62F79A89A0A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A7C62"/>
                </a:solidFill>
              </a:defRPr>
            </a:pPr>
            <a:r>
              <a:rPr sz="1200" b="1">
                <a:solidFill>
                  <a:srgbClr val="0A7C62"/>
                </a:solidFill>
              </a:rPr>
              <a:t>PERFORMANCE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CB3C2CD4-82D3-40F0-BABA-0A0785EC706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0251F"/>
                </a:solidFill>
              </a:defRPr>
            </a:pPr>
            <a:r>
              <a:rPr sz="3600" b="1" dirty="0" err="1">
                <a:solidFill>
                  <a:srgbClr val="10251F"/>
                </a:solidFill>
              </a:rPr>
              <a:t>速度は</a:t>
            </a:r>
            <a:r>
              <a:rPr lang="ja-JP" altLang="en-US" sz="3600" b="1" dirty="0">
                <a:solidFill>
                  <a:srgbClr val="10251F"/>
                </a:solidFill>
              </a:rPr>
              <a:t>実用的</a:t>
            </a:r>
            <a:r>
              <a:rPr sz="3600" b="1" dirty="0">
                <a:solidFill>
                  <a:srgbClr val="10251F"/>
                </a:solidFill>
              </a:rPr>
              <a:t>。</a:t>
            </a:r>
            <a:r>
              <a:rPr sz="3600" b="1" dirty="0" err="1">
                <a:solidFill>
                  <a:srgbClr val="10251F"/>
                </a:solidFill>
              </a:rPr>
              <a:t>ただし大量バッチには向かない</a:t>
            </a:r>
            <a:endParaRPr sz="3600" b="1" dirty="0">
              <a:solidFill>
                <a:srgbClr val="10251F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5854D3A-E348-4C28-B9AC-EE61893C8CFD}"/>
              </a:ext>
            </a:extLst>
          </p:cNvPr>
          <p:cNvSpPr>
            <a:spLocks noGrp="1"/>
          </p:cNvSpPr>
          <p:nvPr/>
        </p:nvSpPr>
        <p:spPr>
          <a:xfrm>
            <a:off x="628650" y="1228725"/>
            <a:ext cx="10668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56B64"/>
                </a:solidFill>
              </a:defRPr>
            </a:pPr>
            <a:r>
              <a:rPr sz="1650" b="0">
                <a:solidFill>
                  <a:srgbClr val="556B64"/>
                </a:solidFill>
              </a:rPr>
              <a:t>現在はスカラーWasm実行。用途に合わせた期待値設定が重要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2FEDD64-153C-4BD3-8565-D4AE021EED37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556B64"/>
                </a:solidFill>
              </a:defRPr>
            </a:pPr>
            <a:r>
              <a:rPr sz="1200" b="1">
                <a:solidFill>
                  <a:srgbClr val="556B64"/>
                </a:solidFill>
              </a:rPr>
              <a:t>10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AF51779-5BE6-4318-BCE3-3E731E399F3F}"/>
              </a:ext>
            </a:extLst>
          </p:cNvPr>
          <p:cNvSpPr>
            <a:spLocks noGrp="1"/>
          </p:cNvSpPr>
          <p:nvPr/>
        </p:nvSpPr>
        <p:spPr>
          <a:xfrm>
            <a:off x="628650" y="1962150"/>
            <a:ext cx="4286250" cy="2781300"/>
          </a:xfrm>
          <a:prstGeom prst="roundRect">
            <a:avLst>
              <a:gd name="adj" fmla="val 8219"/>
            </a:avLst>
          </a:prstGeom>
          <a:solidFill>
            <a:srgbClr val="063B3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C7C9EBA-DD1F-456D-B46D-1847E6E7008F}"/>
              </a:ext>
            </a:extLst>
          </p:cNvPr>
          <p:cNvSpPr>
            <a:spLocks noGrp="1"/>
          </p:cNvSpPr>
          <p:nvPr/>
        </p:nvSpPr>
        <p:spPr>
          <a:xfrm>
            <a:off x="914400" y="22574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B84B"/>
                </a:solidFill>
              </a:defRPr>
            </a:pPr>
            <a:r>
              <a:rPr sz="1500" b="1">
                <a:solidFill>
                  <a:srgbClr val="F2B84B"/>
                </a:solidFill>
              </a:rPr>
              <a:t>ウォームアップ後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125F831-FAD6-4BB2-B864-54CEFC5B464A}"/>
              </a:ext>
            </a:extLst>
          </p:cNvPr>
          <p:cNvSpPr>
            <a:spLocks noGrp="1"/>
          </p:cNvSpPr>
          <p:nvPr/>
        </p:nvSpPr>
        <p:spPr>
          <a:xfrm>
            <a:off x="876300" y="2676525"/>
            <a:ext cx="304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1–2.5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022F544-B8E6-49D3-8BC4-03E2330EAD6E}"/>
              </a:ext>
            </a:extLst>
          </p:cNvPr>
          <p:cNvSpPr>
            <a:spLocks noGrp="1"/>
          </p:cNvSpPr>
          <p:nvPr/>
        </p:nvSpPr>
        <p:spPr>
          <a:xfrm>
            <a:off x="914400" y="3552825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BFE8DC"/>
                </a:solidFill>
              </a:defRPr>
            </a:pPr>
            <a:r>
              <a:rPr sz="2025" b="1">
                <a:solidFill>
                  <a:srgbClr val="BFE8DC"/>
                </a:solidFill>
              </a:rPr>
              <a:t>秒 / メガピクセル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364F3C9-9CCD-4C96-B18F-F08221A54C9C}"/>
              </a:ext>
            </a:extLst>
          </p:cNvPr>
          <p:cNvSpPr>
            <a:spLocks noGrp="1"/>
          </p:cNvSpPr>
          <p:nvPr/>
        </p:nvSpPr>
        <p:spPr>
          <a:xfrm>
            <a:off x="914400" y="41814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一般的なデスクトップ環境・元資料計測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C7FA35A-F134-4136-87D4-3A234BAE703B}"/>
              </a:ext>
            </a:extLst>
          </p:cNvPr>
          <p:cNvSpPr>
            <a:spLocks noGrp="1"/>
          </p:cNvSpPr>
          <p:nvPr/>
        </p:nvSpPr>
        <p:spPr>
          <a:xfrm>
            <a:off x="5448300" y="20955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51F"/>
                </a:solidFill>
              </a:defRPr>
            </a:pPr>
            <a:r>
              <a:rPr sz="1800" b="1">
                <a:solidFill>
                  <a:srgbClr val="10251F"/>
                </a:solidFill>
              </a:rPr>
              <a:t>デコード以外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E868B99-5C97-4EFC-B437-AC59E8B8EFB5}"/>
              </a:ext>
            </a:extLst>
          </p:cNvPr>
          <p:cNvSpPr>
            <a:spLocks noGrp="1"/>
          </p:cNvSpPr>
          <p:nvPr/>
        </p:nvSpPr>
        <p:spPr>
          <a:xfrm>
            <a:off x="5448300" y="262890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556B64"/>
                </a:solidFill>
              </a:defRPr>
            </a:pPr>
            <a:r>
              <a:rPr sz="1500" b="1">
                <a:solidFill>
                  <a:srgbClr val="556B64"/>
                </a:solidFill>
              </a:rPr>
              <a:t>モジュール準備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697A72B-84E9-4E8D-B619-E905E02F8BEC}"/>
              </a:ext>
            </a:extLst>
          </p:cNvPr>
          <p:cNvSpPr>
            <a:spLocks noGrp="1"/>
          </p:cNvSpPr>
          <p:nvPr/>
        </p:nvSpPr>
        <p:spPr>
          <a:xfrm>
            <a:off x="7620000" y="264795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6449825-E45B-4F90-B67A-69FF71FA4F4D}"/>
              </a:ext>
            </a:extLst>
          </p:cNvPr>
          <p:cNvSpPr>
            <a:spLocks noGrp="1"/>
          </p:cNvSpPr>
          <p:nvPr/>
        </p:nvSpPr>
        <p:spPr>
          <a:xfrm>
            <a:off x="5448300" y="323850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556B64"/>
                </a:solidFill>
              </a:defRPr>
            </a:pPr>
            <a:r>
              <a:rPr sz="1500" b="1">
                <a:solidFill>
                  <a:srgbClr val="556B64"/>
                </a:solidFill>
              </a:rPr>
              <a:t>インスタンス生成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83A90B9-470B-4B8F-96F8-3A82BBD63D39}"/>
              </a:ext>
            </a:extLst>
          </p:cNvPr>
          <p:cNvSpPr>
            <a:spLocks noGrp="1"/>
          </p:cNvSpPr>
          <p:nvPr/>
        </p:nvSpPr>
        <p:spPr>
          <a:xfrm>
            <a:off x="7620000" y="3257550"/>
            <a:ext cx="1238250" cy="24765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F2FC9AE-22C9-44FF-92BA-F614B2AA0A9F}"/>
              </a:ext>
            </a:extLst>
          </p:cNvPr>
          <p:cNvSpPr>
            <a:spLocks noGrp="1"/>
          </p:cNvSpPr>
          <p:nvPr/>
        </p:nvSpPr>
        <p:spPr>
          <a:xfrm>
            <a:off x="5448300" y="384810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556B64"/>
                </a:solidFill>
              </a:defRPr>
            </a:pPr>
            <a:r>
              <a:rPr sz="1500" b="1">
                <a:solidFill>
                  <a:srgbClr val="556B64"/>
                </a:solidFill>
              </a:rPr>
              <a:t>ピクセル転送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88FE2B18-8E0D-4023-8266-AF5DACCA2492}"/>
              </a:ext>
            </a:extLst>
          </p:cNvPr>
          <p:cNvSpPr>
            <a:spLocks noGrp="1"/>
          </p:cNvSpPr>
          <p:nvPr/>
        </p:nvSpPr>
        <p:spPr>
          <a:xfrm>
            <a:off x="7620000" y="3867150"/>
            <a:ext cx="1600200" cy="247650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1295EE8-B1D3-4245-8266-8F3C1A9ED12B}"/>
              </a:ext>
            </a:extLst>
          </p:cNvPr>
          <p:cNvSpPr>
            <a:spLocks noGrp="1"/>
          </p:cNvSpPr>
          <p:nvPr/>
        </p:nvSpPr>
        <p:spPr>
          <a:xfrm>
            <a:off x="5448300" y="445770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556B64"/>
                </a:solidFill>
              </a:defRPr>
            </a:pPr>
            <a:r>
              <a:rPr sz="1500" b="1">
                <a:solidFill>
                  <a:srgbClr val="556B64"/>
                </a:solidFill>
              </a:rPr>
              <a:t>ARGB組み立て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239D05C-BDD6-4F92-9B01-CA4B33C15BCB}"/>
              </a:ext>
            </a:extLst>
          </p:cNvPr>
          <p:cNvSpPr>
            <a:spLocks noGrp="1"/>
          </p:cNvSpPr>
          <p:nvPr/>
        </p:nvSpPr>
        <p:spPr>
          <a:xfrm>
            <a:off x="7620000" y="4476750"/>
            <a:ext cx="1047750" cy="24765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366F4E1-3D80-4062-8821-3F8F9C80FDFB}"/>
              </a:ext>
            </a:extLst>
          </p:cNvPr>
          <p:cNvSpPr>
            <a:spLocks noGrp="1"/>
          </p:cNvSpPr>
          <p:nvPr/>
        </p:nvSpPr>
        <p:spPr>
          <a:xfrm>
            <a:off x="9525000" y="35052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0A7C62"/>
                </a:solidFill>
              </a:defRPr>
            </a:pPr>
            <a:r>
              <a:rPr sz="1950" b="1">
                <a:solidFill>
                  <a:srgbClr val="0A7C62"/>
                </a:solidFill>
              </a:rPr>
              <a:t>合計：数ms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28BED196-22A7-4294-84AB-9EE7B46B3DF1}"/>
              </a:ext>
            </a:extLst>
          </p:cNvPr>
          <p:cNvSpPr>
            <a:spLocks noGrp="1"/>
          </p:cNvSpPr>
          <p:nvPr/>
        </p:nvSpPr>
        <p:spPr>
          <a:xfrm>
            <a:off x="628650" y="5143500"/>
            <a:ext cx="10934700" cy="971550"/>
          </a:xfrm>
          <a:prstGeom prst="roundRect">
            <a:avLst>
              <a:gd name="adj" fmla="val 17391"/>
            </a:avLst>
          </a:prstGeom>
          <a:solidFill>
            <a:srgbClr val="FFF1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F257BEB-23F7-4AC8-A5C4-7F7D8129694C}"/>
              </a:ext>
            </a:extLst>
          </p:cNvPr>
          <p:cNvSpPr>
            <a:spLocks noGrp="1"/>
          </p:cNvSpPr>
          <p:nvPr/>
        </p:nvSpPr>
        <p:spPr>
          <a:xfrm>
            <a:off x="876300" y="52768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9B6500"/>
                </a:solidFill>
              </a:defRPr>
            </a:pPr>
            <a:r>
              <a:rPr lang="ja-JP" altLang="en-US" sz="1500" b="1" dirty="0">
                <a:solidFill>
                  <a:srgbClr val="9B6500"/>
                </a:solidFill>
              </a:rPr>
              <a:t>今後の</a:t>
            </a:r>
            <a:r>
              <a:rPr sz="1500" b="1" dirty="0" err="1">
                <a:solidFill>
                  <a:srgbClr val="9B6500"/>
                </a:solidFill>
              </a:rPr>
              <a:t>伸びしろ</a:t>
            </a:r>
            <a:endParaRPr sz="1500" b="1" dirty="0">
              <a:solidFill>
                <a:srgbClr val="9B6500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30F0778-A446-4AE6-A560-7E1835C3BA9B}"/>
              </a:ext>
            </a:extLst>
          </p:cNvPr>
          <p:cNvSpPr>
            <a:spLocks noGrp="1"/>
          </p:cNvSpPr>
          <p:nvPr/>
        </p:nvSpPr>
        <p:spPr>
          <a:xfrm>
            <a:off x="918420" y="5581650"/>
            <a:ext cx="897482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 dirty="0">
                <a:solidFill>
                  <a:srgbClr val="10251F"/>
                </a:solidFill>
              </a:rPr>
              <a:t>Chicory </a:t>
            </a:r>
            <a:r>
              <a:rPr sz="1725" b="1" dirty="0" err="1">
                <a:solidFill>
                  <a:srgbClr val="10251F"/>
                </a:solidFill>
              </a:rPr>
              <a:t>AOTのWasm</a:t>
            </a:r>
            <a:r>
              <a:rPr sz="1725" b="1" dirty="0">
                <a:solidFill>
                  <a:srgbClr val="10251F"/>
                </a:solidFill>
              </a:rPr>
              <a:t> SIMD対応後は、jxl-rsのsimd128パスを活用</a:t>
            </a:r>
            <a:r>
              <a:rPr lang="ja-JP" altLang="en-US" sz="1725" b="1" dirty="0">
                <a:solidFill>
                  <a:srgbClr val="10251F"/>
                </a:solidFill>
              </a:rPr>
              <a:t>して高速化</a:t>
            </a:r>
            <a:r>
              <a:rPr sz="1725" b="1" dirty="0" err="1">
                <a:solidFill>
                  <a:srgbClr val="10251F"/>
                </a:solidFill>
              </a:rPr>
              <a:t>できる可能性</a:t>
            </a:r>
            <a:endParaRPr sz="1725" b="1" dirty="0">
              <a:solidFill>
                <a:srgbClr val="1025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109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E537496-9743-4875-BDD2-7E32CD9666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A7C6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8082DFC-2E89-4398-8B98-F668FC2EF90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A7C62"/>
                </a:solidFill>
              </a:defRPr>
            </a:pPr>
            <a:r>
              <a:rPr sz="1200" b="1">
                <a:solidFill>
                  <a:srgbClr val="0A7C62"/>
                </a:solidFill>
              </a:rPr>
              <a:t>DECISION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892DE9BA-9460-4F15-88D1-11EA4E96E51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0251F"/>
                </a:solidFill>
              </a:defRPr>
            </a:pPr>
            <a:r>
              <a:rPr sz="3600" b="1" dirty="0" err="1">
                <a:solidFill>
                  <a:srgbClr val="10251F"/>
                </a:solidFill>
              </a:rPr>
              <a:t>安全性・可搬性を優先する読み込み用途にフィット</a:t>
            </a:r>
            <a:endParaRPr sz="3600" b="1" dirty="0">
              <a:solidFill>
                <a:srgbClr val="10251F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8B8FB93-3ABA-4631-9932-E721AEB1E9A5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556B64"/>
                </a:solidFill>
              </a:defRPr>
            </a:pPr>
            <a:r>
              <a:rPr sz="1200" b="1">
                <a:solidFill>
                  <a:srgbClr val="556B64"/>
                </a:solidFill>
              </a:rPr>
              <a:t>11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78BE61-6874-4A08-A156-FB290AFB31A8}"/>
              </a:ext>
            </a:extLst>
          </p:cNvPr>
          <p:cNvSpPr>
            <a:spLocks noGrp="1"/>
          </p:cNvSpPr>
          <p:nvPr/>
        </p:nvSpPr>
        <p:spPr>
          <a:xfrm>
            <a:off x="628650" y="192405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0A7C62"/>
                </a:solidFill>
              </a:defRPr>
            </a:pPr>
            <a:r>
              <a:rPr sz="2100" b="1">
                <a:solidFill>
                  <a:srgbClr val="0A7C62"/>
                </a:solidFill>
              </a:rPr>
              <a:t>向いている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D1CD77C-835C-4A13-83EB-139780D34621}"/>
              </a:ext>
            </a:extLst>
          </p:cNvPr>
          <p:cNvSpPr>
            <a:spLocks noGrp="1"/>
          </p:cNvSpPr>
          <p:nvPr/>
        </p:nvSpPr>
        <p:spPr>
          <a:xfrm>
            <a:off x="4438650" y="192405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E76F51"/>
                </a:solidFill>
              </a:defRPr>
            </a:pPr>
            <a:r>
              <a:rPr sz="2100" b="1">
                <a:solidFill>
                  <a:srgbClr val="E76F51"/>
                </a:solidFill>
              </a:rPr>
              <a:t>向いていない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BA9EC34-CC0A-4DD1-B70A-E5A3B5186178}"/>
              </a:ext>
            </a:extLst>
          </p:cNvPr>
          <p:cNvSpPr>
            <a:spLocks noGrp="1"/>
          </p:cNvSpPr>
          <p:nvPr/>
        </p:nvSpPr>
        <p:spPr>
          <a:xfrm>
            <a:off x="8248650" y="192405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9B6500"/>
                </a:solidFill>
              </a:defRPr>
            </a:pPr>
            <a:r>
              <a:rPr sz="2100" b="1">
                <a:solidFill>
                  <a:srgbClr val="9B6500"/>
                </a:solidFill>
              </a:rPr>
              <a:t>現在の制約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8F1BDF4-BBDA-42AF-8D23-6DFC2D60E8B6}"/>
              </a:ext>
            </a:extLst>
          </p:cNvPr>
          <p:cNvSpPr>
            <a:spLocks noGrp="1"/>
          </p:cNvSpPr>
          <p:nvPr/>
        </p:nvSpPr>
        <p:spPr>
          <a:xfrm>
            <a:off x="628650" y="2419350"/>
            <a:ext cx="3219450" cy="2952750"/>
          </a:xfrm>
          <a:prstGeom prst="roundRect">
            <a:avLst>
              <a:gd name="adj" fmla="val 5806"/>
            </a:avLst>
          </a:prstGeom>
          <a:solidFill>
            <a:srgbClr val="E8F5F0"/>
          </a:solidFill>
          <a:ln w="9525">
            <a:solidFill>
              <a:srgbClr val="0A7C6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A2E77C3-09A3-4C3B-80BA-FB9B58234EFE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✓ サムネイル生成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5948E36-7F3F-4675-92D1-0B97DCBC4103}"/>
              </a:ext>
            </a:extLst>
          </p:cNvPr>
          <p:cNvSpPr>
            <a:spLocks noGrp="1"/>
          </p:cNvSpPr>
          <p:nvPr/>
        </p:nvSpPr>
        <p:spPr>
          <a:xfrm>
            <a:off x="876300" y="321945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✓ アップロード画像受け入れ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AC26735-49EA-4274-874E-B99C8D25A568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✓ デスクトップ表示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A83C2DB-F569-440E-B04D-23AE39A76213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✓ マルチOS配布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8AFF049A-5ED1-4CE0-80E9-DB9ED34DC84E}"/>
              </a:ext>
            </a:extLst>
          </p:cNvPr>
          <p:cNvSpPr>
            <a:spLocks noGrp="1"/>
          </p:cNvSpPr>
          <p:nvPr/>
        </p:nvSpPr>
        <p:spPr>
          <a:xfrm>
            <a:off x="4438650" y="2419350"/>
            <a:ext cx="3219450" cy="2952750"/>
          </a:xfrm>
          <a:prstGeom prst="roundRect">
            <a:avLst>
              <a:gd name="adj" fmla="val 5806"/>
            </a:avLst>
          </a:prstGeom>
          <a:solidFill>
            <a:srgbClr val="FBE5DE"/>
          </a:solidFill>
          <a:ln w="9525">
            <a:solidFill>
              <a:srgbClr val="E76F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6C9E375-5F0E-49D9-99FC-54AF6E2CB9C0}"/>
              </a:ext>
            </a:extLst>
          </p:cNvPr>
          <p:cNvSpPr>
            <a:spLocks noGrp="1"/>
          </p:cNvSpPr>
          <p:nvPr/>
        </p:nvSpPr>
        <p:spPr>
          <a:xfrm>
            <a:off x="4686300" y="26860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× 大量バッチ変換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6E8F07F-6729-4473-84FC-E90F87286E1A}"/>
              </a:ext>
            </a:extLst>
          </p:cNvPr>
          <p:cNvSpPr>
            <a:spLocks noGrp="1"/>
          </p:cNvSpPr>
          <p:nvPr/>
        </p:nvSpPr>
        <p:spPr>
          <a:xfrm>
            <a:off x="4686300" y="32194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× 低遅延が最優先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C6BB383-49C8-4A65-967D-C4A4DA6AC636}"/>
              </a:ext>
            </a:extLst>
          </p:cNvPr>
          <p:cNvSpPr>
            <a:spLocks noGrp="1"/>
          </p:cNvSpPr>
          <p:nvPr/>
        </p:nvSpPr>
        <p:spPr>
          <a:xfrm>
            <a:off x="4686300" y="37528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× JPEG XLエンコード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1A0B486-1E85-4ECC-9B40-D4629E4F9C8C}"/>
              </a:ext>
            </a:extLst>
          </p:cNvPr>
          <p:cNvSpPr>
            <a:spLocks noGrp="1"/>
          </p:cNvSpPr>
          <p:nvPr/>
        </p:nvSpPr>
        <p:spPr>
          <a:xfrm>
            <a:off x="4686300" y="42862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× 16bit／HDR保持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4AD90F37-D3CF-4409-999D-B695411B0BB3}"/>
              </a:ext>
            </a:extLst>
          </p:cNvPr>
          <p:cNvSpPr>
            <a:spLocks noGrp="1"/>
          </p:cNvSpPr>
          <p:nvPr/>
        </p:nvSpPr>
        <p:spPr>
          <a:xfrm>
            <a:off x="8248650" y="2419350"/>
            <a:ext cx="3219450" cy="2952750"/>
          </a:xfrm>
          <a:prstGeom prst="roundRect">
            <a:avLst>
              <a:gd name="adj" fmla="val 5806"/>
            </a:avLst>
          </a:prstGeom>
          <a:solidFill>
            <a:srgbClr val="FFF1CF"/>
          </a:solidFill>
          <a:ln w="9525">
            <a:solidFill>
              <a:srgbClr val="F2B84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0AD4414-985B-4EF2-9183-F612D155D330}"/>
              </a:ext>
            </a:extLst>
          </p:cNvPr>
          <p:cNvSpPr>
            <a:spLocks noGrp="1"/>
          </p:cNvSpPr>
          <p:nvPr/>
        </p:nvSpPr>
        <p:spPr>
          <a:xfrm>
            <a:off x="8496300" y="26860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第1フレームのみ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9A0F31A-722C-4530-93BA-E5F6C71A9E37}"/>
              </a:ext>
            </a:extLst>
          </p:cNvPr>
          <p:cNvSpPr>
            <a:spLocks noGrp="1"/>
          </p:cNvSpPr>
          <p:nvPr/>
        </p:nvSpPr>
        <p:spPr>
          <a:xfrm>
            <a:off x="8496300" y="32194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8bit ARGB_PRE固定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69625F7-2D56-44ED-B263-236DF01A43AB}"/>
              </a:ext>
            </a:extLst>
          </p:cNvPr>
          <p:cNvSpPr>
            <a:spLocks noGrp="1"/>
          </p:cNvSpPr>
          <p:nvPr/>
        </p:nvSpPr>
        <p:spPr>
          <a:xfrm>
            <a:off x="8496300" y="37528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SIMD未使用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5E428F9-13F2-4E2E-BBED-84D83B38C487}"/>
              </a:ext>
            </a:extLst>
          </p:cNvPr>
          <p:cNvSpPr>
            <a:spLocks noGrp="1"/>
          </p:cNvSpPr>
          <p:nvPr/>
        </p:nvSpPr>
        <p:spPr>
          <a:xfrm>
            <a:off x="8496300" y="42862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51F"/>
                </a:solidFill>
              </a:defRPr>
            </a:pPr>
            <a:r>
              <a:rPr sz="1725" b="1">
                <a:solidFill>
                  <a:srgbClr val="10251F"/>
                </a:solidFill>
              </a:rPr>
              <a:t>読み込み専用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1C4A2F7C-510C-42AA-9177-2A65823D3340}"/>
              </a:ext>
            </a:extLst>
          </p:cNvPr>
          <p:cNvSpPr>
            <a:spLocks noGrp="1"/>
          </p:cNvSpPr>
          <p:nvPr/>
        </p:nvSpPr>
        <p:spPr>
          <a:xfrm>
            <a:off x="628650" y="5695950"/>
            <a:ext cx="10839450" cy="514350"/>
          </a:xfrm>
          <a:prstGeom prst="roundRect">
            <a:avLst>
              <a:gd name="adj" fmla="val 29630"/>
            </a:avLst>
          </a:prstGeom>
          <a:solidFill>
            <a:srgbClr val="063B3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9169F3F-4B3F-4126-9772-D7D026455E69}"/>
              </a:ext>
            </a:extLst>
          </p:cNvPr>
          <p:cNvSpPr>
            <a:spLocks noGrp="1"/>
          </p:cNvSpPr>
          <p:nvPr/>
        </p:nvSpPr>
        <p:spPr>
          <a:xfrm>
            <a:off x="838200" y="5743575"/>
            <a:ext cx="10420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推奨：まず非同期サムネイル生成など、速度要件を制御しやすい経路から導入</a:t>
            </a:r>
          </a:p>
        </p:txBody>
      </p:sp>
    </p:spTree>
    <p:extLst>
      <p:ext uri="{BB962C8B-B14F-4D97-AF65-F5344CB8AC3E}">
        <p14:creationId xmlns:p14="http://schemas.microsoft.com/office/powerpoint/2010/main" val="1579753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879</Words>
  <Application>Microsoft Office PowerPoint</Application>
  <DocSecurity>0</DocSecurity>
  <PresentationFormat>ワイド画面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Koji Hisano</cp:lastModifiedBy>
  <cp:revision>1</cp:revision>
  <dcterms:created xsi:type="dcterms:W3CDTF">2026-09-01T12:26:19Z</dcterms:created>
  <dcterms:modified xsi:type="dcterms:W3CDTF">2026-09-01T12:42:40Z</dcterms:modified>
</cp:coreProperties>
</file>